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1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cludehelp.com/toc/regular-expressions-in-theory-of-computation.aspx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ToC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Unit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Regular sets, Regular expressions, Manipulation of regular expressions, Equivalence between RE and FA. Pumping Lemma, closure </a:t>
            </a:r>
          </a:p>
          <a:p>
            <a:endParaRPr lang="en-US" dirty="0"/>
          </a:p>
          <a:p>
            <a:r>
              <a:rPr lang="en-US" dirty="0"/>
              <a:t>properties of regular sets, Regular grammars, Right linear and  left  linear  regular  grammars,  inter-conversion between  LLG  &amp;  RLG,  </a:t>
            </a:r>
          </a:p>
          <a:p>
            <a:endParaRPr lang="en-US" dirty="0"/>
          </a:p>
          <a:p>
            <a:r>
              <a:rPr lang="en-US" dirty="0"/>
              <a:t>Equivalence  between  regular grammar and F.A., Inter-conversion between RE and RG.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Regular sets</a:t>
            </a:r>
          </a:p>
          <a:p>
            <a:r>
              <a:rPr lang="en-US" b="1" dirty="0"/>
              <a:t>Any set that denotes the value of the </a:t>
            </a:r>
            <a:r>
              <a:rPr lang="en-US" u="sng" dirty="0">
                <a:hlinkClick r:id="rId2"/>
              </a:rPr>
              <a:t>Regular Expression</a:t>
            </a:r>
            <a:r>
              <a:rPr lang="en-US" b="1" dirty="0"/>
              <a:t> is called a "Regular Set".</a:t>
            </a:r>
          </a:p>
          <a:p>
            <a:r>
              <a:rPr lang="en-US" dirty="0"/>
              <a:t>Regular expressions</a:t>
            </a:r>
          </a:p>
          <a:p>
            <a:r>
              <a:rPr lang="en-US" dirty="0"/>
              <a:t>An algebraic way to represent regular languages. - Some practical applications: pattern matching in text editors, used in compiler design.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Some examples Expression Language </a:t>
            </a:r>
          </a:p>
          <a:p>
            <a:r>
              <a:rPr lang="en-US" dirty="0"/>
              <a:t>Expression   Language </a:t>
            </a:r>
          </a:p>
          <a:p>
            <a:r>
              <a:rPr lang="en-US" dirty="0"/>
              <a:t>0 {0} </a:t>
            </a:r>
          </a:p>
          <a:p>
            <a:r>
              <a:rPr lang="en-US" dirty="0"/>
              <a:t>1 {1}</a:t>
            </a:r>
          </a:p>
          <a:p>
            <a:r>
              <a:rPr lang="en-US" dirty="0"/>
              <a:t> 0 ∪ 1 {0, 1} </a:t>
            </a:r>
          </a:p>
          <a:p>
            <a:r>
              <a:rPr lang="en-US" dirty="0"/>
              <a:t>0 ∗ {E, 0, 00, 000, . . .}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Expression Language</a:t>
            </a:r>
          </a:p>
          <a:p>
            <a:r>
              <a:rPr lang="en-US" dirty="0"/>
              <a:t>(0 ∪ 1)∗          {, 0, 1, 00, 01, 10, . . .} </a:t>
            </a:r>
          </a:p>
          <a:p>
            <a:r>
              <a:rPr lang="en-US" dirty="0"/>
              <a:t>(0 ∪ 1) · 1 ∗   {0, 1, 01, 11, 011, 111, . . .}  </a:t>
            </a:r>
          </a:p>
          <a:p>
            <a:r>
              <a:rPr lang="en-US" dirty="0"/>
              <a:t>E                     {E} </a:t>
            </a:r>
          </a:p>
          <a:p>
            <a:r>
              <a:rPr lang="en-US" dirty="0"/>
              <a:t>∅                    {}</a:t>
            </a:r>
          </a:p>
          <a:p>
            <a:r>
              <a:rPr lang="en-US" dirty="0"/>
              <a:t>Each expression corresponds to a language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 is said to be a regular expression (or RE in short) if R has one of the following forms: </a:t>
            </a:r>
          </a:p>
          <a:p>
            <a:r>
              <a:rPr lang="en-US" sz="1800" dirty="0"/>
              <a:t>Regular Expression   Language of the regular expression or L(R)     Comment</a:t>
            </a:r>
          </a:p>
          <a:p>
            <a:r>
              <a:rPr lang="en-US" sz="1800" dirty="0"/>
              <a:t>∅ 	{} 	the empty set </a:t>
            </a:r>
          </a:p>
          <a:p>
            <a:r>
              <a:rPr lang="en-US" sz="1800" dirty="0"/>
              <a:t>	{} 	the set containing  only </a:t>
            </a:r>
          </a:p>
          <a:p>
            <a:r>
              <a:rPr lang="en-US" sz="1800" dirty="0"/>
              <a:t>a 	{a} 	a ∈ </a:t>
            </a:r>
            <a:r>
              <a:rPr lang="el-GR" sz="1800" dirty="0"/>
              <a:t>Σ </a:t>
            </a:r>
            <a:endParaRPr lang="en-US" sz="1800" dirty="0"/>
          </a:p>
          <a:p>
            <a:r>
              <a:rPr lang="en-US" sz="1800" dirty="0"/>
              <a:t>R1 ∪ R2 	L(R1) ∪ L(R2) 	for two regular expressions R1 and R2 </a:t>
            </a:r>
          </a:p>
          <a:p>
            <a:r>
              <a:rPr lang="en-US" sz="1800" dirty="0"/>
              <a:t>R1 · R2 	L(R1) · L(R2) 	for two regular expressions R1 and R2 </a:t>
            </a:r>
          </a:p>
          <a:p>
            <a:r>
              <a:rPr lang="en-US" sz="1800" dirty="0"/>
              <a:t>R∗ 1 	(L(R1))∗ 	for a regular expression R1 </a:t>
            </a:r>
          </a:p>
          <a:p>
            <a:r>
              <a:rPr lang="en-US" sz="1800" dirty="0"/>
              <a:t>(R1) 	L(R1) 	for a regular expression R1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Regular expressions are well defined. In other words, each regular expression corresponds to a unique language. Is the converse true? - ∪ is often replaced by +. Hence R1 ∪ R2 is the same as R1 + R2.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- The dot symbol is often discarded. - () gives precedence to an expression (similar to standard arithmetic). - Order of precedence (higher to lower): () ∗ · ∪ - The language corresponding to the RE ∅ ∗ is {}. (since  is the concatenation of zero symbols from the set ∅)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Some more examples of REs and their corresponding languages.</a:t>
            </a:r>
          </a:p>
          <a:p>
            <a:r>
              <a:rPr lang="pt-BR" dirty="0"/>
              <a:t>R 	L(R) </a:t>
            </a:r>
          </a:p>
          <a:p>
            <a:r>
              <a:rPr lang="pt-BR" dirty="0"/>
              <a:t>01 	{01} </a:t>
            </a:r>
          </a:p>
          <a:p>
            <a:r>
              <a:rPr lang="pt-BR" dirty="0"/>
              <a:t>01 + 1 	{01, 1} </a:t>
            </a:r>
          </a:p>
          <a:p>
            <a:r>
              <a:rPr lang="pt-BR" dirty="0"/>
              <a:t>(01 + E)1 {011, 1} </a:t>
            </a:r>
          </a:p>
          <a:p>
            <a:r>
              <a:rPr lang="pt-BR" dirty="0"/>
              <a:t>(0 + 10)∗ (E + 1) 	{E, 0, 10, 00, 001, 010,   </a:t>
            </a:r>
          </a:p>
          <a:p>
            <a:pPr>
              <a:buNone/>
            </a:pPr>
            <a:r>
              <a:rPr lang="pt-BR" dirty="0"/>
              <a:t>                                        0101, . . .}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Informally, L(R) consists of all those strings that “matches” the regular expression R.</a:t>
            </a:r>
          </a:p>
          <a:p>
            <a:r>
              <a:rPr lang="en-US" dirty="0"/>
              <a:t>Language 				RE</a:t>
            </a:r>
          </a:p>
          <a:p>
            <a:r>
              <a:rPr lang="en-US" dirty="0"/>
              <a:t>{w | w has a single 1} 		0 ∗10∗ </a:t>
            </a:r>
          </a:p>
          <a:p>
            <a:r>
              <a:rPr lang="en-US" dirty="0"/>
              <a:t>{w | w has at most a single 1}   0 ∗ + 0∗10∗ </a:t>
            </a:r>
          </a:p>
          <a:p>
            <a:r>
              <a:rPr lang="en-US" dirty="0"/>
              <a:t>{w | |w| is a multiple of 3}        ((0 + 1)(0 + 1)(0   </a:t>
            </a:r>
          </a:p>
          <a:p>
            <a:pPr>
              <a:buNone/>
            </a:pPr>
            <a:r>
              <a:rPr lang="en-US" dirty="0"/>
              <a:t>                                                            + 1))∗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{w | w has a 1 at every odd position and |w| is odd} 	1((0 + 1)1)∗ </a:t>
            </a:r>
          </a:p>
          <a:p>
            <a:r>
              <a:rPr lang="en-US" dirty="0"/>
              <a:t>{w | w has a 1 at every even position}   ((0 + </a:t>
            </a:r>
          </a:p>
          <a:p>
            <a:pPr>
              <a:buNone/>
            </a:pPr>
            <a:r>
              <a:rPr lang="en-US" dirty="0"/>
              <a:t>                                            1)1)∗ + (0 + 1)(1(0 + 1))∗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say that two regular expressions R1 and R2 are equivalent (denoted as R1 = R2) if L(R1) = L(R2).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Some basic algebraic properties of </a:t>
            </a:r>
            <a:r>
              <a:rPr lang="en-US" dirty="0" err="1"/>
              <a:t>REs.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1. R1 + (R2 + R3) = (R1 + R2) + R3</a:t>
            </a:r>
          </a:p>
          <a:p>
            <a:r>
              <a:rPr lang="pt-BR" dirty="0"/>
              <a:t> </a:t>
            </a:r>
          </a:p>
          <a:p>
            <a:r>
              <a:rPr lang="pt-BR" dirty="0"/>
              <a:t>2. R1(R2R3) = (R1R2)R3</a:t>
            </a:r>
          </a:p>
          <a:p>
            <a:r>
              <a:rPr lang="pt-BR" dirty="0"/>
              <a:t> </a:t>
            </a:r>
          </a:p>
          <a:p>
            <a:r>
              <a:rPr lang="pt-BR" dirty="0"/>
              <a:t>3. R1(R2 + R3) = R1R2 + R1R3 </a:t>
            </a:r>
          </a:p>
          <a:p>
            <a:endParaRPr lang="pt-BR" dirty="0"/>
          </a:p>
          <a:p>
            <a:r>
              <a:rPr lang="pt-BR" dirty="0"/>
              <a:t>4. (R1 + R2)R3 = R1R3 + R2R3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5. R1 + R2 = R2 + R1  (only addition is </a:t>
            </a:r>
          </a:p>
          <a:p>
            <a:pPr>
              <a:buNone/>
            </a:pPr>
            <a:r>
              <a:rPr lang="pt-BR" dirty="0"/>
              <a:t>                                          commutative)) </a:t>
            </a:r>
          </a:p>
          <a:p>
            <a:r>
              <a:rPr lang="pt-BR" dirty="0"/>
              <a:t>6. (R∗ ) ∗ = R∗ </a:t>
            </a:r>
          </a:p>
          <a:p>
            <a:endParaRPr lang="pt-BR" dirty="0"/>
          </a:p>
          <a:p>
            <a:r>
              <a:rPr lang="pt-BR" dirty="0"/>
              <a:t>7. R = R = R </a:t>
            </a:r>
          </a:p>
          <a:p>
            <a:r>
              <a:rPr lang="pt-BR" dirty="0"/>
              <a:t>8. R∅ = ∅R = ∅ </a:t>
            </a:r>
          </a:p>
          <a:p>
            <a:r>
              <a:rPr lang="pt-BR" dirty="0"/>
              <a:t>9. R + ∅ = R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Equivalence between RE and 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Just as finite automata are used to </a:t>
            </a:r>
            <a:r>
              <a:rPr lang="en-US" i="1" dirty="0"/>
              <a:t>recognize</a:t>
            </a:r>
            <a:r>
              <a:rPr lang="en-US" dirty="0"/>
              <a:t> patterns of strings, regular expressions are used to </a:t>
            </a:r>
            <a:r>
              <a:rPr lang="en-US" i="1" dirty="0"/>
              <a:t>generate</a:t>
            </a:r>
            <a:r>
              <a:rPr lang="en-US" dirty="0"/>
              <a:t> patterns of strings.</a:t>
            </a:r>
          </a:p>
          <a:p>
            <a:r>
              <a:rPr lang="en-US" dirty="0"/>
              <a:t>Regular expressions and finite automata have equivalent expressive power: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every regular expression R, there is a corresponding FA that accepts the set of strings generated by R.</a:t>
            </a:r>
          </a:p>
          <a:p>
            <a:r>
              <a:rPr lang="en-US" dirty="0"/>
              <a:t>For every FA A there is a corresponding regular expression that generates the set of strings accepted by A.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proof is in two parts:</a:t>
            </a:r>
          </a:p>
          <a:p>
            <a:r>
              <a:rPr lang="en-US" dirty="0"/>
              <a:t>an algorithm that, given a regular expression R, produces an FA A such that L(A) == L(R).</a:t>
            </a:r>
          </a:p>
          <a:p>
            <a:r>
              <a:rPr lang="en-US" dirty="0"/>
              <a:t>an algorithm that, given an FA A, produces a regular expression R such that L(R) == L(A).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Our construction of FA from regular expressions will allow "epsilon transitions" (a transition from one state to another with epsilon as the label). Such a transition is always possible, since epsilon (or the empty string) can be said to exist between any two input symbols.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show that such epsilon transitions are a notational convenience; for every FA with epsilon transitions there is a corresponding FA without them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Constructing an FA from an RE</a:t>
            </a:r>
          </a:p>
          <a:p>
            <a:r>
              <a:rPr lang="en-US" dirty="0"/>
              <a:t>We begin by showing how to construct an FA for the operands in a regular expression.</a:t>
            </a:r>
          </a:p>
          <a:p>
            <a:r>
              <a:rPr lang="en-US" dirty="0"/>
              <a:t>If the operand is a character c, then our FA has two states, s0 (the start state) and </a:t>
            </a:r>
            <a:r>
              <a:rPr lang="en-US" dirty="0" err="1"/>
              <a:t>sF</a:t>
            </a:r>
            <a:r>
              <a:rPr lang="en-US" dirty="0"/>
              <a:t> (the final, accepting state), and a transition from s0 to </a:t>
            </a:r>
            <a:r>
              <a:rPr lang="en-US" dirty="0" err="1"/>
              <a:t>sF</a:t>
            </a:r>
            <a:r>
              <a:rPr lang="en-US" dirty="0"/>
              <a:t> with label c.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the operand is epsilon, then our FA has two states, s0 (the start state) and </a:t>
            </a:r>
            <a:r>
              <a:rPr lang="en-US" dirty="0" err="1"/>
              <a:t>sF</a:t>
            </a:r>
            <a:r>
              <a:rPr lang="en-US" dirty="0"/>
              <a:t> (the final, accepting state), and an epsilon transition from s0 to </a:t>
            </a:r>
            <a:r>
              <a:rPr lang="en-US" dirty="0" err="1"/>
              <a:t>sF.</a:t>
            </a:r>
            <a:endParaRPr lang="en-US" dirty="0"/>
          </a:p>
          <a:p>
            <a:r>
              <a:rPr lang="en-US" dirty="0"/>
              <a:t>If the operand is null, then our FA has two states, s0 (the start state) and </a:t>
            </a:r>
            <a:r>
              <a:rPr lang="en-US" dirty="0" err="1"/>
              <a:t>sF</a:t>
            </a:r>
            <a:r>
              <a:rPr lang="en-US" dirty="0"/>
              <a:t> (the final, accepting state), and no transitions.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Given FA for R1 and R2, we now show how to build an FA for R1R2, R1|R2, and R1*. Let A (with start state a0 and final state </a:t>
            </a:r>
            <a:r>
              <a:rPr lang="en-US" dirty="0" err="1"/>
              <a:t>aF</a:t>
            </a:r>
            <a:r>
              <a:rPr lang="en-US" dirty="0"/>
              <a:t>) be the machine accepting L(R1) and B (with start state b0 and final state </a:t>
            </a:r>
            <a:r>
              <a:rPr lang="en-US" dirty="0" err="1"/>
              <a:t>bF</a:t>
            </a:r>
            <a:r>
              <a:rPr lang="en-US" dirty="0"/>
              <a:t>) be the machine accepting L(R2).</a:t>
            </a:r>
          </a:p>
          <a:p>
            <a:r>
              <a:rPr lang="en-US" dirty="0"/>
              <a:t>The machine C accepting L(R1R2) includes A and B, with start state a0, final state </a:t>
            </a:r>
            <a:r>
              <a:rPr lang="en-US" dirty="0" err="1"/>
              <a:t>bF</a:t>
            </a:r>
            <a:r>
              <a:rPr lang="en-US" dirty="0"/>
              <a:t>, and an epsilon transition from </a:t>
            </a:r>
            <a:r>
              <a:rPr lang="en-US" dirty="0" err="1"/>
              <a:t>aF</a:t>
            </a:r>
            <a:r>
              <a:rPr lang="en-US" dirty="0"/>
              <a:t> to b0.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machine C accepting L(R1|R2) includes A and B, with a new start state c0, a new final state </a:t>
            </a:r>
            <a:r>
              <a:rPr lang="en-US" dirty="0" err="1"/>
              <a:t>cF</a:t>
            </a:r>
            <a:r>
              <a:rPr lang="en-US" dirty="0"/>
              <a:t>, and epsilon transitions from c0 to a0 and b0, and from </a:t>
            </a:r>
            <a:r>
              <a:rPr lang="en-US" dirty="0" err="1"/>
              <a:t>aF</a:t>
            </a:r>
            <a:r>
              <a:rPr lang="en-US" dirty="0"/>
              <a:t> and </a:t>
            </a:r>
            <a:r>
              <a:rPr lang="en-US" dirty="0" err="1"/>
              <a:t>bF</a:t>
            </a:r>
            <a:r>
              <a:rPr lang="en-US" dirty="0"/>
              <a:t> to </a:t>
            </a:r>
            <a:r>
              <a:rPr lang="en-US" dirty="0" err="1"/>
              <a:t>cF.</a:t>
            </a:r>
            <a:endParaRPr lang="en-US" dirty="0"/>
          </a:p>
          <a:p>
            <a:r>
              <a:rPr lang="en-US" dirty="0"/>
              <a:t>The machine C accepting L(R1*) includes A, with a new start state c0, a new final state </a:t>
            </a:r>
            <a:r>
              <a:rPr lang="en-US" dirty="0" err="1"/>
              <a:t>cF</a:t>
            </a:r>
            <a:r>
              <a:rPr lang="en-US" dirty="0"/>
              <a:t>, and epsilon transitions from c0 to a0 and </a:t>
            </a:r>
            <a:r>
              <a:rPr lang="en-US" dirty="0" err="1"/>
              <a:t>cF</a:t>
            </a:r>
            <a:r>
              <a:rPr lang="en-US" dirty="0"/>
              <a:t>, and from </a:t>
            </a:r>
            <a:r>
              <a:rPr lang="en-US" dirty="0" err="1"/>
              <a:t>aF</a:t>
            </a:r>
            <a:r>
              <a:rPr lang="en-US" dirty="0"/>
              <a:t> to a0, and from </a:t>
            </a:r>
            <a:r>
              <a:rPr lang="en-US" dirty="0" err="1"/>
              <a:t>aF</a:t>
            </a:r>
            <a:r>
              <a:rPr lang="en-US" dirty="0"/>
              <a:t> to </a:t>
            </a:r>
            <a:r>
              <a:rPr lang="en-US" dirty="0" err="1"/>
              <a:t>cF.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Constructing an RE from an FA</a:t>
            </a:r>
          </a:p>
          <a:p>
            <a:r>
              <a:rPr lang="en-US" dirty="0"/>
              <a:t>To construct a regular expression from a DFA (and thereby complete the proof that regular expressions and finite automata have the same expressive power), we replace each state in the DFA one by one with a corresponding regular expression.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Just as we built a small FA for each operator and operand in a regular expression, we will now build a small regular expression for each state in the DFA.</a:t>
            </a:r>
          </a:p>
          <a:p>
            <a:r>
              <a:rPr lang="en-US" dirty="0"/>
              <a:t>The basic idea is to eliminate the states of the FA one by one, replacing each state with a regular expression that generates the portion of the input string that labels the transitions into and out of the state being eliminated.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Pumping Lemma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Pumping Lemma</a:t>
            </a:r>
            <a:r>
              <a:rPr lang="en-US" dirty="0"/>
              <a:t> is a theorem that is used to determine if a given string is in a regular language L or</a:t>
            </a:r>
          </a:p>
          <a:p>
            <a:r>
              <a:rPr lang="en-US" dirty="0"/>
              <a:t>The Pumping theorem has two different variants, one for </a:t>
            </a:r>
            <a:r>
              <a:rPr lang="en-US" b="1" dirty="0"/>
              <a:t>Regular Language</a:t>
            </a:r>
            <a:r>
              <a:rPr lang="en-US" dirty="0"/>
              <a:t> and other for </a:t>
            </a:r>
            <a:r>
              <a:rPr lang="en-US" b="1" dirty="0"/>
              <a:t>Context Free Language</a:t>
            </a:r>
            <a:r>
              <a:rPr lang="en-US"/>
              <a:t>. 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fontAlgn="base"/>
            <a:r>
              <a:rPr lang="en-US" b="1" dirty="0"/>
              <a:t>Pumping Lemma for Regular Languages</a:t>
            </a:r>
          </a:p>
          <a:p>
            <a:pPr fontAlgn="base"/>
            <a:r>
              <a:rPr lang="en-US" dirty="0"/>
              <a:t>The theorem of Pumping Lemma for Regular Languages is as follows:</a:t>
            </a:r>
          </a:p>
          <a:p>
            <a:pPr fontAlgn="base"/>
            <a:r>
              <a:rPr lang="en-US" dirty="0"/>
              <a:t>Given a regular language L.</a:t>
            </a:r>
            <a:br>
              <a:rPr lang="en-US" dirty="0"/>
            </a:br>
            <a:r>
              <a:rPr lang="en-US" dirty="0"/>
              <a:t>There exists an integer p (</a:t>
            </a:r>
            <a:r>
              <a:rPr lang="en-US" b="1" dirty="0"/>
              <a:t>pumping length</a:t>
            </a:r>
            <a:r>
              <a:rPr lang="en-US" dirty="0"/>
              <a:t>) &gt;= 1 such that for every string STR in L with length of STR &gt;= p can be written as STR = XYZ provided:</a:t>
            </a:r>
          </a:p>
          <a:p>
            <a:pPr fontAlgn="base"/>
            <a:r>
              <a:rPr lang="en-US" dirty="0"/>
              <a:t>y is not null / empty string</a:t>
            </a:r>
          </a:p>
          <a:p>
            <a:pPr fontAlgn="base"/>
            <a:r>
              <a:rPr lang="en-US" dirty="0"/>
              <a:t>length of </a:t>
            </a:r>
            <a:r>
              <a:rPr lang="en-US" dirty="0" err="1"/>
              <a:t>xy</a:t>
            </a:r>
            <a:r>
              <a:rPr lang="en-US" dirty="0"/>
              <a:t> &lt;= p</a:t>
            </a:r>
          </a:p>
          <a:p>
            <a:pPr fontAlgn="base"/>
            <a:r>
              <a:rPr lang="en-US" dirty="0"/>
              <a:t>for all </a:t>
            </a:r>
            <a:r>
              <a:rPr lang="en-US" dirty="0" err="1"/>
              <a:t>i</a:t>
            </a:r>
            <a:r>
              <a:rPr lang="en-US" dirty="0"/>
              <a:t> &gt;= 0, </a:t>
            </a:r>
            <a:r>
              <a:rPr lang="en-US" dirty="0" err="1"/>
              <a:t>xy</a:t>
            </a:r>
            <a:r>
              <a:rPr lang="en-US" baseline="30000" dirty="0" err="1"/>
              <a:t>i</a:t>
            </a:r>
            <a:r>
              <a:rPr lang="en-US" dirty="0" err="1"/>
              <a:t>z</a:t>
            </a:r>
            <a:r>
              <a:rPr lang="en-US" dirty="0"/>
              <a:t> is a part of L.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In simple terms, a string STR in L can be written in such a form that there are three components (xyz) and if we repeat the middle portion any number of times, the resultant string is also in L.</a:t>
            </a:r>
          </a:p>
          <a:p>
            <a:pPr fontAlgn="base"/>
            <a:r>
              <a:rPr lang="en-US" dirty="0"/>
              <a:t>The name follows from the idea that the middle part of the string is pumped multiple times to form the resultant string.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this holds true for all string in L, then L is a regular language. Therefore, Pumping Lemma for Regular Languages can be used to find if a given string is in a regular language L and if a given language L is a regular language or not.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Intuitive proof:</a:t>
            </a:r>
          </a:p>
          <a:p>
            <a:pPr fontAlgn="base"/>
            <a:r>
              <a:rPr lang="en-US" dirty="0"/>
              <a:t>If a string STR is long to create a cycle in Deterministic Finite Automata (DFA) for a given regular language L, then we can repeat the cycle (pump) any number of times and form infinite set of strings that will be a part of L as it is represented using the same DFA.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fontAlgn="base"/>
            <a:r>
              <a:rPr lang="en-US" dirty="0"/>
              <a:t>Formal proof:</a:t>
            </a:r>
          </a:p>
          <a:p>
            <a:pPr fontAlgn="base"/>
            <a:r>
              <a:rPr lang="en-US" dirty="0"/>
              <a:t>Let Σ be the alphabet of regular language L. There exists a DFA M = (Q, Σ, δ, q, F) that accepts L. We define p (pumping length) to be the number of states in Q.</a:t>
            </a:r>
          </a:p>
          <a:p>
            <a:pPr fontAlgn="base"/>
            <a:r>
              <a:rPr lang="en-US" dirty="0"/>
              <a:t>Let string STR = s</a:t>
            </a:r>
            <a:r>
              <a:rPr lang="en-US" baseline="-25000" dirty="0"/>
              <a:t>1</a:t>
            </a:r>
            <a:r>
              <a:rPr lang="en-US" dirty="0"/>
              <a:t>s</a:t>
            </a:r>
            <a:r>
              <a:rPr lang="en-US" baseline="-25000" dirty="0"/>
              <a:t>2</a:t>
            </a:r>
            <a:r>
              <a:rPr lang="en-US" dirty="0"/>
              <a:t> ... </a:t>
            </a:r>
            <a:r>
              <a:rPr lang="en-US" dirty="0" err="1"/>
              <a:t>s</a:t>
            </a:r>
            <a:r>
              <a:rPr lang="en-US" baseline="-25000" dirty="0" err="1"/>
              <a:t>n</a:t>
            </a:r>
            <a:r>
              <a:rPr lang="en-US" dirty="0"/>
              <a:t> such that n &gt;= p.</a:t>
            </a:r>
          </a:p>
          <a:p>
            <a:pPr fontAlgn="base"/>
            <a:r>
              <a:rPr lang="en-US" dirty="0"/>
              <a:t>Let a starting state be r1.</a:t>
            </a:r>
          </a:p>
          <a:p>
            <a:pPr fontAlgn="base"/>
            <a:r>
              <a:rPr lang="en-US" dirty="0"/>
              <a:t>If we take s1 as input at state r1, we move to state r2.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dirty="0"/>
              <a:t>Therefore, if we take </a:t>
            </a:r>
            <a:r>
              <a:rPr lang="en-US" dirty="0" err="1"/>
              <a:t>s</a:t>
            </a:r>
            <a:r>
              <a:rPr lang="en-US" baseline="-25000" dirty="0" err="1"/>
              <a:t>i</a:t>
            </a:r>
            <a:r>
              <a:rPr lang="en-US" dirty="0"/>
              <a:t> as input at state </a:t>
            </a:r>
            <a:r>
              <a:rPr lang="en-US" dirty="0" err="1"/>
              <a:t>r</a:t>
            </a:r>
            <a:r>
              <a:rPr lang="en-US" baseline="-25000" dirty="0" err="1"/>
              <a:t>i</a:t>
            </a:r>
            <a:r>
              <a:rPr lang="en-US" dirty="0"/>
              <a:t>, we move to state r</a:t>
            </a:r>
            <a:r>
              <a:rPr lang="en-US" baseline="-25000" dirty="0"/>
              <a:t>i+1</a:t>
            </a:r>
            <a:r>
              <a:rPr lang="en-US" dirty="0"/>
              <a:t>.</a:t>
            </a:r>
          </a:p>
          <a:p>
            <a:pPr fontAlgn="base"/>
            <a:r>
              <a:rPr lang="en-US" dirty="0"/>
              <a:t>The last / final state is r</a:t>
            </a:r>
            <a:r>
              <a:rPr lang="en-US" baseline="-25000" dirty="0"/>
              <a:t>n+1</a:t>
            </a:r>
            <a:r>
              <a:rPr lang="en-US" dirty="0"/>
              <a:t>.</a:t>
            </a:r>
          </a:p>
          <a:p>
            <a:pPr fontAlgn="base"/>
            <a:r>
              <a:rPr lang="en-US" dirty="0"/>
              <a:t>Number of states in DFA M is p and as n &gt;= p, by pigeonhole principle, we know that there must be a state that repeats itself.</a:t>
            </a:r>
          </a:p>
          <a:p>
            <a:pPr fontAlgn="base"/>
            <a:r>
              <a:rPr lang="en-US" dirty="0"/>
              <a:t>Therefore, there exist </a:t>
            </a:r>
            <a:r>
              <a:rPr lang="en-US" dirty="0" err="1"/>
              <a:t>i</a:t>
            </a:r>
            <a:r>
              <a:rPr lang="en-US" dirty="0"/>
              <a:t> and j such that </a:t>
            </a:r>
            <a:r>
              <a:rPr lang="en-US" dirty="0" err="1"/>
              <a:t>r</a:t>
            </a:r>
            <a:r>
              <a:rPr lang="en-US" baseline="-25000" dirty="0" err="1"/>
              <a:t>i</a:t>
            </a:r>
            <a:r>
              <a:rPr lang="en-US" dirty="0"/>
              <a:t> = </a:t>
            </a:r>
            <a:r>
              <a:rPr lang="en-US" dirty="0" err="1"/>
              <a:t>r</a:t>
            </a:r>
            <a:r>
              <a:rPr lang="en-US" baseline="-25000" dirty="0" err="1"/>
              <a:t>j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Therefore, reading characters in a string y will move from state </a:t>
            </a:r>
            <a:r>
              <a:rPr lang="en-US" dirty="0" err="1"/>
              <a:t>r</a:t>
            </a:r>
            <a:r>
              <a:rPr lang="en-US" baseline="-25000" dirty="0" err="1"/>
              <a:t>i</a:t>
            </a:r>
            <a:r>
              <a:rPr lang="en-US" dirty="0"/>
              <a:t> to </a:t>
            </a:r>
            <a:r>
              <a:rPr lang="en-US" dirty="0" err="1"/>
              <a:t>r</a:t>
            </a:r>
            <a:r>
              <a:rPr lang="en-US" baseline="-25000" dirty="0" err="1"/>
              <a:t>j</a:t>
            </a:r>
            <a:r>
              <a:rPr lang="en-US" dirty="0"/>
              <a:t>. Consider the following image to visual DFA M easily.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In this view, the string y can be pumped any number of times and the resultant string will stay in DFA M that is in regular language 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fontAlgn="base"/>
            <a:r>
              <a:rPr lang="en-US" b="1" dirty="0"/>
              <a:t>Pumping Lemma for Context Free Languages</a:t>
            </a:r>
          </a:p>
          <a:p>
            <a:pPr fontAlgn="base"/>
            <a:r>
              <a:rPr lang="en-US" dirty="0"/>
              <a:t>The theorem of Pumping Lemma for Context Free Languages is as follows:</a:t>
            </a:r>
          </a:p>
          <a:p>
            <a:pPr fontAlgn="base"/>
            <a:r>
              <a:rPr lang="en-US" dirty="0"/>
              <a:t>Given a Context Free Languages L.</a:t>
            </a:r>
            <a:br>
              <a:rPr lang="en-US" dirty="0"/>
            </a:br>
            <a:r>
              <a:rPr lang="en-US" dirty="0"/>
              <a:t>There exists an integer p (</a:t>
            </a:r>
            <a:r>
              <a:rPr lang="en-US" b="1" dirty="0"/>
              <a:t>pumping length</a:t>
            </a:r>
            <a:r>
              <a:rPr lang="en-US" dirty="0"/>
              <a:t>) &gt;= 1 such that for every string STR in L with length of STR &gt;= p can be written as STR = UVWXY provided:</a:t>
            </a:r>
          </a:p>
          <a:p>
            <a:pPr fontAlgn="base"/>
            <a:r>
              <a:rPr lang="en-US" dirty="0"/>
              <a:t>VX is not null / empty string</a:t>
            </a:r>
          </a:p>
          <a:p>
            <a:pPr fontAlgn="base"/>
            <a:r>
              <a:rPr lang="en-US" dirty="0"/>
              <a:t>length of VWX &lt;= p</a:t>
            </a:r>
          </a:p>
          <a:p>
            <a:pPr fontAlgn="base"/>
            <a:r>
              <a:rPr lang="en-US" dirty="0"/>
              <a:t>for all </a:t>
            </a:r>
            <a:r>
              <a:rPr lang="en-US" dirty="0" err="1"/>
              <a:t>i</a:t>
            </a:r>
            <a:r>
              <a:rPr lang="en-US" dirty="0"/>
              <a:t> &gt;= 0, </a:t>
            </a:r>
            <a:r>
              <a:rPr lang="en-US" dirty="0" err="1"/>
              <a:t>UV</a:t>
            </a:r>
            <a:r>
              <a:rPr lang="en-US" baseline="30000" dirty="0" err="1"/>
              <a:t>i</a:t>
            </a:r>
            <a:r>
              <a:rPr lang="en-US" dirty="0" err="1"/>
              <a:t>XY</a:t>
            </a:r>
            <a:r>
              <a:rPr lang="en-US" baseline="30000" dirty="0" err="1"/>
              <a:t>i</a:t>
            </a:r>
            <a:r>
              <a:rPr lang="en-US" dirty="0" err="1"/>
              <a:t>Z</a:t>
            </a:r>
            <a:r>
              <a:rPr lang="en-US" dirty="0"/>
              <a:t> is a part of L.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Note we are pumping two substrings V and Y. In Pumping Lemma for Regular Languages, we were pumping only one substring Y.</a:t>
            </a:r>
          </a:p>
          <a:p>
            <a:pPr fontAlgn="base"/>
            <a:r>
              <a:rPr lang="en-US" dirty="0"/>
              <a:t>Following image will help you understand this theorem:</a:t>
            </a:r>
          </a:p>
          <a:p>
            <a:r>
              <a:rPr lang="en-US" dirty="0"/>
              <a:t>To prove this, you need to have knowledge on Chomsky Normal Form (CNF) and Parse Tree.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Closure properties of regular 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/>
              <a:t>1</a:t>
            </a:r>
            <a:r>
              <a:rPr lang="en-US" dirty="0"/>
              <a:t>. </a:t>
            </a:r>
            <a:r>
              <a:rPr lang="en-US" i="1" dirty="0"/>
              <a:t>The union of two regular set is regular.</a:t>
            </a:r>
          </a:p>
          <a:p>
            <a:r>
              <a:rPr lang="en-US" b="1" dirty="0"/>
              <a:t>Proof</a:t>
            </a:r>
            <a:r>
              <a:rPr lang="en-US" dirty="0"/>
              <a:t> −</a:t>
            </a:r>
          </a:p>
          <a:p>
            <a:r>
              <a:rPr lang="en-US" dirty="0"/>
              <a:t>Let us take two regular expressions</a:t>
            </a:r>
          </a:p>
          <a:p>
            <a:r>
              <a:rPr lang="en-US" dirty="0"/>
              <a:t>RE</a:t>
            </a:r>
            <a:r>
              <a:rPr lang="en-US" baseline="-25000" dirty="0"/>
              <a:t>1</a:t>
            </a:r>
            <a:r>
              <a:rPr lang="en-US" dirty="0"/>
              <a:t> = a(</a:t>
            </a:r>
            <a:r>
              <a:rPr lang="en-US" dirty="0" err="1"/>
              <a:t>aa</a:t>
            </a:r>
            <a:r>
              <a:rPr lang="en-US" dirty="0"/>
              <a:t>)* and RE</a:t>
            </a:r>
            <a:r>
              <a:rPr lang="en-US" baseline="-25000" dirty="0"/>
              <a:t>2</a:t>
            </a:r>
            <a:r>
              <a:rPr lang="en-US" dirty="0"/>
              <a:t> = (</a:t>
            </a:r>
            <a:r>
              <a:rPr lang="en-US" dirty="0" err="1"/>
              <a:t>aa</a:t>
            </a:r>
            <a:r>
              <a:rPr lang="en-US" dirty="0"/>
              <a:t>)*</a:t>
            </a:r>
          </a:p>
          <a:p>
            <a:r>
              <a:rPr lang="en-US" dirty="0"/>
              <a:t>So, L</a:t>
            </a:r>
            <a:r>
              <a:rPr lang="en-US" baseline="-25000" dirty="0"/>
              <a:t>1</a:t>
            </a:r>
            <a:r>
              <a:rPr lang="en-US" dirty="0"/>
              <a:t> = {a, </a:t>
            </a:r>
            <a:r>
              <a:rPr lang="en-US" dirty="0" err="1"/>
              <a:t>aaa</a:t>
            </a:r>
            <a:r>
              <a:rPr lang="en-US" dirty="0"/>
              <a:t>, </a:t>
            </a:r>
            <a:r>
              <a:rPr lang="en-US" dirty="0" err="1"/>
              <a:t>aaaaa</a:t>
            </a:r>
            <a:r>
              <a:rPr lang="en-US" dirty="0"/>
              <a:t>,.....} (Strings of odd length excluding Null)</a:t>
            </a:r>
          </a:p>
          <a:p>
            <a:r>
              <a:rPr lang="en-US" dirty="0"/>
              <a:t>and L</a:t>
            </a:r>
            <a:r>
              <a:rPr lang="en-US" baseline="-25000" dirty="0"/>
              <a:t>2</a:t>
            </a:r>
            <a:r>
              <a:rPr lang="en-US" dirty="0"/>
              <a:t> ={ </a:t>
            </a:r>
            <a:r>
              <a:rPr lang="el-GR" dirty="0"/>
              <a:t>ε, </a:t>
            </a:r>
            <a:r>
              <a:rPr lang="en-US" dirty="0" err="1"/>
              <a:t>aa</a:t>
            </a:r>
            <a:r>
              <a:rPr lang="en-US" dirty="0"/>
              <a:t>, </a:t>
            </a:r>
            <a:r>
              <a:rPr lang="en-US" dirty="0" err="1"/>
              <a:t>aaaa</a:t>
            </a:r>
            <a:r>
              <a:rPr lang="en-US" dirty="0"/>
              <a:t>, </a:t>
            </a:r>
            <a:r>
              <a:rPr lang="en-US" dirty="0" err="1"/>
              <a:t>aaaaaa</a:t>
            </a:r>
            <a:r>
              <a:rPr lang="en-US" dirty="0"/>
              <a:t>,.......} (Strings of even length including Null)</a:t>
            </a:r>
          </a:p>
          <a:p>
            <a:r>
              <a:rPr lang="en-US" dirty="0"/>
              <a:t>L</a:t>
            </a:r>
            <a:r>
              <a:rPr lang="en-US" baseline="-25000" dirty="0"/>
              <a:t>1</a:t>
            </a:r>
            <a:r>
              <a:rPr lang="en-US" dirty="0"/>
              <a:t> ∪ L</a:t>
            </a:r>
            <a:r>
              <a:rPr lang="en-US" baseline="-25000" dirty="0"/>
              <a:t>2</a:t>
            </a:r>
            <a:r>
              <a:rPr lang="en-US" dirty="0"/>
              <a:t> = { </a:t>
            </a:r>
            <a:r>
              <a:rPr lang="el-GR" dirty="0"/>
              <a:t>ε, </a:t>
            </a:r>
            <a:r>
              <a:rPr lang="en-US" dirty="0"/>
              <a:t>a, </a:t>
            </a:r>
            <a:r>
              <a:rPr lang="en-US" dirty="0" err="1"/>
              <a:t>aa</a:t>
            </a:r>
            <a:r>
              <a:rPr lang="en-US" dirty="0"/>
              <a:t>, </a:t>
            </a:r>
            <a:r>
              <a:rPr lang="en-US" dirty="0" err="1"/>
              <a:t>aaa</a:t>
            </a:r>
            <a:r>
              <a:rPr lang="en-US" dirty="0"/>
              <a:t>, </a:t>
            </a:r>
            <a:r>
              <a:rPr lang="en-US" dirty="0" err="1"/>
              <a:t>aaaa</a:t>
            </a:r>
            <a:r>
              <a:rPr lang="en-US" dirty="0"/>
              <a:t>, </a:t>
            </a:r>
            <a:r>
              <a:rPr lang="en-US" dirty="0" err="1"/>
              <a:t>aaaaa</a:t>
            </a:r>
            <a:r>
              <a:rPr lang="en-US" dirty="0"/>
              <a:t>, </a:t>
            </a:r>
            <a:r>
              <a:rPr lang="en-US" dirty="0" err="1"/>
              <a:t>aaaaaa</a:t>
            </a:r>
            <a:r>
              <a:rPr lang="en-US" dirty="0"/>
              <a:t>,.......}</a:t>
            </a:r>
          </a:p>
          <a:p>
            <a:r>
              <a:rPr lang="en-US" dirty="0"/>
              <a:t>(Strings of all possible lengths including Null)</a:t>
            </a:r>
          </a:p>
          <a:p>
            <a:r>
              <a:rPr lang="en-US" dirty="0"/>
              <a:t>RE (L</a:t>
            </a:r>
            <a:r>
              <a:rPr lang="en-US" baseline="-25000" dirty="0"/>
              <a:t>1</a:t>
            </a:r>
            <a:r>
              <a:rPr lang="en-US" dirty="0"/>
              <a:t> ∪ L</a:t>
            </a:r>
            <a:r>
              <a:rPr lang="en-US" baseline="-25000" dirty="0"/>
              <a:t>2</a:t>
            </a:r>
            <a:r>
              <a:rPr lang="en-US" dirty="0"/>
              <a:t>) = a* (which is a regular expression itself)</a:t>
            </a:r>
          </a:p>
          <a:p>
            <a:r>
              <a:rPr lang="en-US" b="1" dirty="0"/>
              <a:t>Hence, proved.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2.</a:t>
            </a:r>
            <a:r>
              <a:rPr lang="en-US" dirty="0"/>
              <a:t> </a:t>
            </a:r>
            <a:r>
              <a:rPr lang="en-US" i="1" dirty="0"/>
              <a:t>The intersection of two regular set is regular.</a:t>
            </a:r>
            <a:endParaRPr lang="en-US" dirty="0"/>
          </a:p>
          <a:p>
            <a:r>
              <a:rPr lang="en-US" b="1" dirty="0"/>
              <a:t>Proof</a:t>
            </a:r>
            <a:r>
              <a:rPr lang="en-US" dirty="0"/>
              <a:t> −</a:t>
            </a:r>
          </a:p>
          <a:p>
            <a:r>
              <a:rPr lang="en-US" dirty="0"/>
              <a:t>Let us take two regular expressions</a:t>
            </a:r>
          </a:p>
          <a:p>
            <a:r>
              <a:rPr lang="en-US" dirty="0"/>
              <a:t>RE</a:t>
            </a:r>
            <a:r>
              <a:rPr lang="en-US" baseline="-25000" dirty="0"/>
              <a:t>1</a:t>
            </a:r>
            <a:r>
              <a:rPr lang="en-US" dirty="0"/>
              <a:t> = a(a*) and RE</a:t>
            </a:r>
            <a:r>
              <a:rPr lang="en-US" baseline="-25000" dirty="0"/>
              <a:t>2</a:t>
            </a:r>
            <a:r>
              <a:rPr lang="en-US" dirty="0"/>
              <a:t> = (</a:t>
            </a:r>
            <a:r>
              <a:rPr lang="en-US" dirty="0" err="1"/>
              <a:t>aa</a:t>
            </a:r>
            <a:r>
              <a:rPr lang="en-US" dirty="0"/>
              <a:t>)*</a:t>
            </a:r>
          </a:p>
          <a:p>
            <a:r>
              <a:rPr lang="en-US" dirty="0"/>
              <a:t>So, L</a:t>
            </a:r>
            <a:r>
              <a:rPr lang="en-US" baseline="-25000" dirty="0"/>
              <a:t>1</a:t>
            </a:r>
            <a:r>
              <a:rPr lang="en-US" dirty="0"/>
              <a:t> = { </a:t>
            </a:r>
            <a:r>
              <a:rPr lang="en-US" dirty="0" err="1"/>
              <a:t>a,aa</a:t>
            </a:r>
            <a:r>
              <a:rPr lang="en-US" dirty="0"/>
              <a:t>, </a:t>
            </a:r>
            <a:r>
              <a:rPr lang="en-US" dirty="0" err="1"/>
              <a:t>aaa</a:t>
            </a:r>
            <a:r>
              <a:rPr lang="en-US" dirty="0"/>
              <a:t>, </a:t>
            </a:r>
            <a:r>
              <a:rPr lang="en-US" dirty="0" err="1"/>
              <a:t>aaaa</a:t>
            </a:r>
            <a:r>
              <a:rPr lang="en-US" dirty="0"/>
              <a:t>, ....} (Strings of all possible lengths excluding Null)</a:t>
            </a:r>
          </a:p>
          <a:p>
            <a:r>
              <a:rPr lang="en-US" dirty="0"/>
              <a:t>L</a:t>
            </a:r>
            <a:r>
              <a:rPr lang="en-US" baseline="-25000" dirty="0"/>
              <a:t>2</a:t>
            </a:r>
            <a:r>
              <a:rPr lang="en-US" dirty="0"/>
              <a:t> = { </a:t>
            </a:r>
            <a:r>
              <a:rPr lang="el-GR" dirty="0"/>
              <a:t>ε, </a:t>
            </a:r>
            <a:r>
              <a:rPr lang="en-US" dirty="0" err="1"/>
              <a:t>aa</a:t>
            </a:r>
            <a:r>
              <a:rPr lang="en-US" dirty="0"/>
              <a:t>, </a:t>
            </a:r>
            <a:r>
              <a:rPr lang="en-US" dirty="0" err="1"/>
              <a:t>aaaa</a:t>
            </a:r>
            <a:r>
              <a:rPr lang="en-US" dirty="0"/>
              <a:t>, </a:t>
            </a:r>
            <a:r>
              <a:rPr lang="en-US" dirty="0" err="1"/>
              <a:t>aaaaaa</a:t>
            </a:r>
            <a:r>
              <a:rPr lang="en-US" dirty="0"/>
              <a:t>,.......} (Strings of even length including Null)</a:t>
            </a:r>
          </a:p>
          <a:p>
            <a:r>
              <a:rPr lang="en-US" dirty="0"/>
              <a:t>L</a:t>
            </a:r>
            <a:r>
              <a:rPr lang="en-US" baseline="-25000" dirty="0"/>
              <a:t>1</a:t>
            </a:r>
            <a:r>
              <a:rPr lang="en-US" dirty="0"/>
              <a:t> ∩ L</a:t>
            </a:r>
            <a:r>
              <a:rPr lang="en-US" baseline="-25000" dirty="0"/>
              <a:t>2</a:t>
            </a:r>
            <a:r>
              <a:rPr lang="en-US" dirty="0"/>
              <a:t> = { </a:t>
            </a:r>
            <a:r>
              <a:rPr lang="en-US" dirty="0" err="1"/>
              <a:t>aa</a:t>
            </a:r>
            <a:r>
              <a:rPr lang="en-US" dirty="0"/>
              <a:t>, </a:t>
            </a:r>
            <a:r>
              <a:rPr lang="en-US" dirty="0" err="1"/>
              <a:t>aaaa</a:t>
            </a:r>
            <a:r>
              <a:rPr lang="en-US" dirty="0"/>
              <a:t>, </a:t>
            </a:r>
            <a:r>
              <a:rPr lang="en-US" dirty="0" err="1"/>
              <a:t>aaaaaa</a:t>
            </a:r>
            <a:r>
              <a:rPr lang="en-US" dirty="0"/>
              <a:t>,.......} (Strings of even length excluding Null)</a:t>
            </a:r>
          </a:p>
          <a:p>
            <a:r>
              <a:rPr lang="en-US" dirty="0"/>
              <a:t>RE (L</a:t>
            </a:r>
            <a:r>
              <a:rPr lang="en-US" baseline="-25000" dirty="0"/>
              <a:t>1</a:t>
            </a:r>
            <a:r>
              <a:rPr lang="en-US" dirty="0"/>
              <a:t> ∩ L</a:t>
            </a:r>
            <a:r>
              <a:rPr lang="en-US" baseline="-25000" dirty="0"/>
              <a:t>2</a:t>
            </a:r>
            <a:r>
              <a:rPr lang="en-US" dirty="0"/>
              <a:t>) = </a:t>
            </a:r>
            <a:r>
              <a:rPr lang="en-US" dirty="0" err="1"/>
              <a:t>aa</a:t>
            </a:r>
            <a:r>
              <a:rPr lang="en-US" dirty="0"/>
              <a:t>(</a:t>
            </a:r>
            <a:r>
              <a:rPr lang="en-US" dirty="0" err="1"/>
              <a:t>aa</a:t>
            </a:r>
            <a:r>
              <a:rPr lang="en-US" dirty="0"/>
              <a:t>)* which is a regular expression itself.</a:t>
            </a:r>
          </a:p>
          <a:p>
            <a:r>
              <a:rPr lang="en-US" b="1" dirty="0"/>
              <a:t>Hence, proved.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3.</a:t>
            </a:r>
            <a:r>
              <a:rPr lang="en-US" dirty="0"/>
              <a:t> </a:t>
            </a:r>
            <a:r>
              <a:rPr lang="en-US" i="1" dirty="0"/>
              <a:t>The complement of a regular set is regular.</a:t>
            </a:r>
            <a:endParaRPr lang="en-US" dirty="0"/>
          </a:p>
          <a:p>
            <a:r>
              <a:rPr lang="en-US" b="1" dirty="0"/>
              <a:t>Proof</a:t>
            </a:r>
            <a:r>
              <a:rPr lang="en-US" dirty="0"/>
              <a:t> −</a:t>
            </a:r>
          </a:p>
          <a:p>
            <a:r>
              <a:rPr lang="en-US" dirty="0"/>
              <a:t>Let us take a regular expression −</a:t>
            </a:r>
          </a:p>
          <a:p>
            <a:r>
              <a:rPr lang="en-US" dirty="0"/>
              <a:t>RE = (</a:t>
            </a:r>
            <a:r>
              <a:rPr lang="en-US" dirty="0" err="1"/>
              <a:t>aa</a:t>
            </a:r>
            <a:r>
              <a:rPr lang="en-US" dirty="0"/>
              <a:t>)*</a:t>
            </a:r>
          </a:p>
          <a:p>
            <a:r>
              <a:rPr lang="en-US" dirty="0"/>
              <a:t>So, L = {ε, </a:t>
            </a:r>
            <a:r>
              <a:rPr lang="en-US" dirty="0" err="1"/>
              <a:t>aa</a:t>
            </a:r>
            <a:r>
              <a:rPr lang="en-US" dirty="0"/>
              <a:t>, </a:t>
            </a:r>
            <a:r>
              <a:rPr lang="en-US" dirty="0" err="1"/>
              <a:t>aaaa</a:t>
            </a:r>
            <a:r>
              <a:rPr lang="en-US" dirty="0"/>
              <a:t>, </a:t>
            </a:r>
            <a:r>
              <a:rPr lang="en-US" dirty="0" err="1"/>
              <a:t>aaaaaa</a:t>
            </a:r>
            <a:r>
              <a:rPr lang="en-US" dirty="0"/>
              <a:t>, .......} (Strings of even length including Null)</a:t>
            </a:r>
          </a:p>
          <a:p>
            <a:r>
              <a:rPr lang="en-US" dirty="0"/>
              <a:t>Complement of </a:t>
            </a:r>
            <a:r>
              <a:rPr lang="en-US" b="1" dirty="0"/>
              <a:t>L</a:t>
            </a:r>
            <a:r>
              <a:rPr lang="en-US" dirty="0"/>
              <a:t> is all the strings that is not in </a:t>
            </a:r>
            <a:r>
              <a:rPr lang="en-US" b="1" dirty="0"/>
              <a:t>L</a:t>
            </a:r>
            <a:r>
              <a:rPr lang="en-US" dirty="0"/>
              <a:t>.</a:t>
            </a:r>
          </a:p>
          <a:p>
            <a:r>
              <a:rPr lang="en-US" dirty="0"/>
              <a:t>So, L’ = {a, </a:t>
            </a:r>
            <a:r>
              <a:rPr lang="en-US" dirty="0" err="1"/>
              <a:t>aaa</a:t>
            </a:r>
            <a:r>
              <a:rPr lang="en-US" dirty="0"/>
              <a:t>, </a:t>
            </a:r>
            <a:r>
              <a:rPr lang="en-US" dirty="0" err="1"/>
              <a:t>aaaaa</a:t>
            </a:r>
            <a:r>
              <a:rPr lang="en-US" dirty="0"/>
              <a:t>, .....} (Strings of odd length excluding Null)</a:t>
            </a:r>
          </a:p>
          <a:p>
            <a:r>
              <a:rPr lang="en-US" dirty="0"/>
              <a:t>RE (L’) = a(</a:t>
            </a:r>
            <a:r>
              <a:rPr lang="en-US" dirty="0" err="1"/>
              <a:t>aa</a:t>
            </a:r>
            <a:r>
              <a:rPr lang="en-US" dirty="0"/>
              <a:t>)* which is a regular expression itself.</a:t>
            </a:r>
          </a:p>
          <a:p>
            <a:r>
              <a:rPr lang="en-US" b="1" dirty="0"/>
              <a:t>Hence, proved.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i="1" dirty="0"/>
              <a:t>The difference of two regular set is regular.</a:t>
            </a:r>
            <a:endParaRPr lang="en-US" dirty="0"/>
          </a:p>
          <a:p>
            <a:r>
              <a:rPr lang="en-US" b="1" dirty="0"/>
              <a:t>Proof</a:t>
            </a:r>
            <a:r>
              <a:rPr lang="en-US" dirty="0"/>
              <a:t> −</a:t>
            </a:r>
          </a:p>
          <a:p>
            <a:r>
              <a:rPr lang="en-US" dirty="0"/>
              <a:t>Let us take two regular expressions −</a:t>
            </a:r>
          </a:p>
          <a:p>
            <a:r>
              <a:rPr lang="en-US" dirty="0"/>
              <a:t>RE</a:t>
            </a:r>
            <a:r>
              <a:rPr lang="en-US" baseline="-25000" dirty="0"/>
              <a:t>1</a:t>
            </a:r>
            <a:r>
              <a:rPr lang="en-US" dirty="0"/>
              <a:t> = a (a*) and RE</a:t>
            </a:r>
            <a:r>
              <a:rPr lang="en-US" baseline="-25000" dirty="0"/>
              <a:t>2</a:t>
            </a:r>
            <a:r>
              <a:rPr lang="en-US" dirty="0"/>
              <a:t> = (</a:t>
            </a:r>
            <a:r>
              <a:rPr lang="en-US" dirty="0" err="1"/>
              <a:t>aa</a:t>
            </a:r>
            <a:r>
              <a:rPr lang="en-US" dirty="0"/>
              <a:t>)*</a:t>
            </a:r>
          </a:p>
          <a:p>
            <a:r>
              <a:rPr lang="en-US" dirty="0"/>
              <a:t>So, L</a:t>
            </a:r>
            <a:r>
              <a:rPr lang="en-US" baseline="-25000" dirty="0"/>
              <a:t>1</a:t>
            </a:r>
            <a:r>
              <a:rPr lang="en-US" dirty="0"/>
              <a:t> = {a, </a:t>
            </a:r>
            <a:r>
              <a:rPr lang="en-US" dirty="0" err="1"/>
              <a:t>aa</a:t>
            </a:r>
            <a:r>
              <a:rPr lang="en-US" dirty="0"/>
              <a:t>, </a:t>
            </a:r>
            <a:r>
              <a:rPr lang="en-US" dirty="0" err="1"/>
              <a:t>aaa</a:t>
            </a:r>
            <a:r>
              <a:rPr lang="en-US" dirty="0"/>
              <a:t>, </a:t>
            </a:r>
            <a:r>
              <a:rPr lang="en-US" dirty="0" err="1"/>
              <a:t>aaaa</a:t>
            </a:r>
            <a:r>
              <a:rPr lang="en-US" dirty="0"/>
              <a:t>, ....} (Strings of all possible lengths excluding Null)</a:t>
            </a:r>
          </a:p>
          <a:p>
            <a:r>
              <a:rPr lang="en-US" dirty="0"/>
              <a:t>L</a:t>
            </a:r>
            <a:r>
              <a:rPr lang="en-US" baseline="-25000" dirty="0"/>
              <a:t>2</a:t>
            </a:r>
            <a:r>
              <a:rPr lang="en-US" dirty="0"/>
              <a:t> = { </a:t>
            </a:r>
            <a:r>
              <a:rPr lang="el-GR" dirty="0"/>
              <a:t>ε, </a:t>
            </a:r>
            <a:r>
              <a:rPr lang="en-US" dirty="0" err="1"/>
              <a:t>aa</a:t>
            </a:r>
            <a:r>
              <a:rPr lang="en-US" dirty="0"/>
              <a:t>, </a:t>
            </a:r>
            <a:r>
              <a:rPr lang="en-US" dirty="0" err="1"/>
              <a:t>aaaa</a:t>
            </a:r>
            <a:r>
              <a:rPr lang="en-US" dirty="0"/>
              <a:t>, </a:t>
            </a:r>
            <a:r>
              <a:rPr lang="en-US" dirty="0" err="1"/>
              <a:t>aaaaaa</a:t>
            </a:r>
            <a:r>
              <a:rPr lang="en-US" dirty="0"/>
              <a:t>,.......} (Strings of even length including Null)</a:t>
            </a:r>
          </a:p>
          <a:p>
            <a:r>
              <a:rPr lang="en-US" dirty="0"/>
              <a:t>L</a:t>
            </a:r>
            <a:r>
              <a:rPr lang="en-US" baseline="-25000" dirty="0"/>
              <a:t>1</a:t>
            </a:r>
            <a:r>
              <a:rPr lang="en-US" dirty="0"/>
              <a:t> – L</a:t>
            </a:r>
            <a:r>
              <a:rPr lang="en-US" baseline="-25000" dirty="0"/>
              <a:t>2</a:t>
            </a:r>
            <a:r>
              <a:rPr lang="en-US" dirty="0"/>
              <a:t> = {a, </a:t>
            </a:r>
            <a:r>
              <a:rPr lang="en-US" dirty="0" err="1"/>
              <a:t>aaa</a:t>
            </a:r>
            <a:r>
              <a:rPr lang="en-US" dirty="0"/>
              <a:t>, </a:t>
            </a:r>
            <a:r>
              <a:rPr lang="en-US" dirty="0" err="1"/>
              <a:t>aaaaa</a:t>
            </a:r>
            <a:r>
              <a:rPr lang="en-US" dirty="0"/>
              <a:t>, </a:t>
            </a:r>
            <a:r>
              <a:rPr lang="en-US" dirty="0" err="1"/>
              <a:t>aaaaaaa</a:t>
            </a:r>
            <a:r>
              <a:rPr lang="en-US" dirty="0"/>
              <a:t>, ....}</a:t>
            </a:r>
          </a:p>
          <a:p>
            <a:r>
              <a:rPr lang="en-US" dirty="0"/>
              <a:t>(Strings of all odd lengths excluding Null)</a:t>
            </a:r>
          </a:p>
          <a:p>
            <a:r>
              <a:rPr lang="en-US" dirty="0"/>
              <a:t>RE (L</a:t>
            </a:r>
            <a:r>
              <a:rPr lang="en-US" baseline="-25000" dirty="0"/>
              <a:t>1</a:t>
            </a:r>
            <a:r>
              <a:rPr lang="en-US" dirty="0"/>
              <a:t> – L</a:t>
            </a:r>
            <a:r>
              <a:rPr lang="en-US" baseline="-25000" dirty="0"/>
              <a:t>2</a:t>
            </a:r>
            <a:r>
              <a:rPr lang="en-US" dirty="0"/>
              <a:t>) = a (</a:t>
            </a:r>
            <a:r>
              <a:rPr lang="en-US" dirty="0" err="1"/>
              <a:t>aa</a:t>
            </a:r>
            <a:r>
              <a:rPr lang="en-US" dirty="0"/>
              <a:t>)* which is a regular expression.</a:t>
            </a:r>
          </a:p>
          <a:p>
            <a:r>
              <a:rPr lang="en-US" b="1" dirty="0"/>
              <a:t>Hence, proved.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5.</a:t>
            </a:r>
            <a:r>
              <a:rPr lang="en-US" dirty="0"/>
              <a:t> </a:t>
            </a:r>
            <a:r>
              <a:rPr lang="en-US" i="1" dirty="0"/>
              <a:t>The reversal of a regular set is regular.</a:t>
            </a:r>
            <a:endParaRPr lang="en-US" dirty="0"/>
          </a:p>
          <a:p>
            <a:r>
              <a:rPr lang="en-US" b="1" dirty="0"/>
              <a:t>Proof</a:t>
            </a:r>
            <a:r>
              <a:rPr lang="en-US" dirty="0"/>
              <a:t> −</a:t>
            </a:r>
          </a:p>
          <a:p>
            <a:r>
              <a:rPr lang="en-US" dirty="0"/>
              <a:t>We have to prove </a:t>
            </a:r>
            <a:r>
              <a:rPr lang="en-US" b="1" dirty="0"/>
              <a:t>L</a:t>
            </a:r>
            <a:r>
              <a:rPr lang="en-US" b="1" baseline="30000" dirty="0"/>
              <a:t>R</a:t>
            </a:r>
            <a:r>
              <a:rPr lang="en-US" dirty="0"/>
              <a:t> is also regular if </a:t>
            </a:r>
            <a:r>
              <a:rPr lang="en-US" b="1" dirty="0"/>
              <a:t>L</a:t>
            </a:r>
            <a:r>
              <a:rPr lang="en-US" dirty="0"/>
              <a:t> is a regular set.</a:t>
            </a:r>
          </a:p>
          <a:p>
            <a:r>
              <a:rPr lang="en-US" dirty="0"/>
              <a:t>Let, L = {01, 10, 11, 10}</a:t>
            </a:r>
          </a:p>
          <a:p>
            <a:r>
              <a:rPr lang="en-US" dirty="0"/>
              <a:t>RE (L) = 01 + 10 + 11 + 10</a:t>
            </a:r>
          </a:p>
          <a:p>
            <a:r>
              <a:rPr lang="en-US" dirty="0"/>
              <a:t>L</a:t>
            </a:r>
            <a:r>
              <a:rPr lang="en-US" baseline="30000" dirty="0"/>
              <a:t>R</a:t>
            </a:r>
            <a:r>
              <a:rPr lang="en-US" dirty="0"/>
              <a:t> = {10, 01, 11, 01}</a:t>
            </a:r>
          </a:p>
          <a:p>
            <a:r>
              <a:rPr lang="en-US" dirty="0"/>
              <a:t>RE (L</a:t>
            </a:r>
            <a:r>
              <a:rPr lang="en-US" baseline="30000" dirty="0"/>
              <a:t>R</a:t>
            </a:r>
            <a:r>
              <a:rPr lang="en-US" dirty="0"/>
              <a:t>) = 01 + 10 + 11 + 10 which is regular</a:t>
            </a:r>
          </a:p>
          <a:p>
            <a:r>
              <a:rPr lang="en-US" b="1" dirty="0"/>
              <a:t>Hence, proved.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6.</a:t>
            </a:r>
            <a:r>
              <a:rPr lang="en-US" dirty="0"/>
              <a:t> </a:t>
            </a:r>
            <a:r>
              <a:rPr lang="en-US" i="1" dirty="0"/>
              <a:t>The closure of a regular set is regular.</a:t>
            </a:r>
            <a:endParaRPr lang="en-US" dirty="0"/>
          </a:p>
          <a:p>
            <a:r>
              <a:rPr lang="en-US" b="1" dirty="0"/>
              <a:t>Proof</a:t>
            </a:r>
            <a:r>
              <a:rPr lang="en-US" dirty="0"/>
              <a:t> −</a:t>
            </a:r>
          </a:p>
          <a:p>
            <a:r>
              <a:rPr lang="en-US" dirty="0"/>
              <a:t>If L = {a, </a:t>
            </a:r>
            <a:r>
              <a:rPr lang="en-US" dirty="0" err="1"/>
              <a:t>aaa</a:t>
            </a:r>
            <a:r>
              <a:rPr lang="en-US" dirty="0"/>
              <a:t>, </a:t>
            </a:r>
            <a:r>
              <a:rPr lang="en-US" dirty="0" err="1"/>
              <a:t>aaaaa</a:t>
            </a:r>
            <a:r>
              <a:rPr lang="en-US" dirty="0"/>
              <a:t>, .......} (Strings of odd length excluding Null)</a:t>
            </a:r>
          </a:p>
          <a:p>
            <a:r>
              <a:rPr lang="en-US" dirty="0"/>
              <a:t>i.e., RE (L) = a (</a:t>
            </a:r>
            <a:r>
              <a:rPr lang="en-US" dirty="0" err="1"/>
              <a:t>aa</a:t>
            </a:r>
            <a:r>
              <a:rPr lang="en-US" dirty="0"/>
              <a:t>)*</a:t>
            </a:r>
          </a:p>
          <a:p>
            <a:r>
              <a:rPr lang="en-US" dirty="0"/>
              <a:t>L* = {a, </a:t>
            </a:r>
            <a:r>
              <a:rPr lang="en-US" dirty="0" err="1"/>
              <a:t>aa</a:t>
            </a:r>
            <a:r>
              <a:rPr lang="en-US" dirty="0"/>
              <a:t>, </a:t>
            </a:r>
            <a:r>
              <a:rPr lang="en-US" dirty="0" err="1"/>
              <a:t>aaa</a:t>
            </a:r>
            <a:r>
              <a:rPr lang="en-US" dirty="0"/>
              <a:t>, </a:t>
            </a:r>
            <a:r>
              <a:rPr lang="en-US" dirty="0" err="1"/>
              <a:t>aaaa</a:t>
            </a:r>
            <a:r>
              <a:rPr lang="en-US" dirty="0"/>
              <a:t> , </a:t>
            </a:r>
            <a:r>
              <a:rPr lang="en-US" dirty="0" err="1"/>
              <a:t>aaaaa</a:t>
            </a:r>
            <a:r>
              <a:rPr lang="en-US" dirty="0"/>
              <a:t>,……………} (Strings of all lengths excluding Null)</a:t>
            </a:r>
          </a:p>
          <a:p>
            <a:r>
              <a:rPr lang="en-US" dirty="0"/>
              <a:t>RE (L*) = a (a)*</a:t>
            </a:r>
          </a:p>
          <a:p>
            <a:r>
              <a:rPr lang="en-US" b="1" dirty="0"/>
              <a:t>Hence, proved.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7.</a:t>
            </a:r>
            <a:r>
              <a:rPr lang="en-US" dirty="0"/>
              <a:t> </a:t>
            </a:r>
            <a:r>
              <a:rPr lang="en-US" i="1" dirty="0"/>
              <a:t>The concatenation of two regular sets is regular.</a:t>
            </a:r>
            <a:endParaRPr lang="en-US" dirty="0"/>
          </a:p>
          <a:p>
            <a:r>
              <a:rPr lang="en-US" b="1" dirty="0"/>
              <a:t>Proof −</a:t>
            </a:r>
            <a:endParaRPr lang="en-US" dirty="0"/>
          </a:p>
          <a:p>
            <a:r>
              <a:rPr lang="en-US" dirty="0"/>
              <a:t>Let RE</a:t>
            </a:r>
            <a:r>
              <a:rPr lang="en-US" baseline="-25000" dirty="0"/>
              <a:t>1</a:t>
            </a:r>
            <a:r>
              <a:rPr lang="en-US" dirty="0"/>
              <a:t> = (0+1)*0 and RE</a:t>
            </a:r>
            <a:r>
              <a:rPr lang="en-US" baseline="-25000" dirty="0"/>
              <a:t>2</a:t>
            </a:r>
            <a:r>
              <a:rPr lang="en-US" dirty="0"/>
              <a:t> = 01(0+1)*</a:t>
            </a:r>
          </a:p>
          <a:p>
            <a:r>
              <a:rPr lang="en-US" dirty="0"/>
              <a:t>Here, L</a:t>
            </a:r>
            <a:r>
              <a:rPr lang="en-US" baseline="-25000" dirty="0"/>
              <a:t>1</a:t>
            </a:r>
            <a:r>
              <a:rPr lang="en-US" dirty="0"/>
              <a:t> = {0, 00, 10, 000, 010, ......} (Set of strings ending in 0)</a:t>
            </a:r>
          </a:p>
          <a:p>
            <a:r>
              <a:rPr lang="en-US" dirty="0"/>
              <a:t>and L</a:t>
            </a:r>
            <a:r>
              <a:rPr lang="en-US" baseline="-25000" dirty="0"/>
              <a:t>2</a:t>
            </a:r>
            <a:r>
              <a:rPr lang="en-US" dirty="0"/>
              <a:t> = {01, 010,011,.....} (Set of strings beginning with 01)</a:t>
            </a:r>
          </a:p>
          <a:p>
            <a:r>
              <a:rPr lang="en-US" dirty="0"/>
              <a:t>Then, L</a:t>
            </a:r>
            <a:r>
              <a:rPr lang="en-US" baseline="-25000" dirty="0"/>
              <a:t>1</a:t>
            </a:r>
            <a:r>
              <a:rPr lang="en-US" dirty="0"/>
              <a:t> L</a:t>
            </a:r>
            <a:r>
              <a:rPr lang="en-US" baseline="-25000" dirty="0"/>
              <a:t>2</a:t>
            </a:r>
            <a:r>
              <a:rPr lang="en-US" dirty="0"/>
              <a:t> = {001,0010,0011,0001,00010,00011,1001,10010,.............}</a:t>
            </a:r>
          </a:p>
          <a:p>
            <a:r>
              <a:rPr lang="en-US" dirty="0"/>
              <a:t>Set of strings containing 001 as a substring which can be represented by an RE − (0 + 1)*001(0 + 1)*</a:t>
            </a:r>
          </a:p>
          <a:p>
            <a:r>
              <a:rPr lang="en-US" dirty="0"/>
              <a:t>Hence, proved.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Regular grammars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Regular grammar generates regular language. They have a single non-terminal on the left-hand side and a right-hand side consisting of a single terminal or  single terminal followed by a non-terminal.</a:t>
            </a:r>
          </a:p>
          <a:p>
            <a:pPr fontAlgn="base"/>
            <a:r>
              <a:rPr lang="en-US" dirty="0"/>
              <a:t>The productions must be in the form –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 ⇢ </a:t>
            </a:r>
            <a:r>
              <a:rPr lang="en-US" b="1" dirty="0" err="1"/>
              <a:t>xB</a:t>
            </a:r>
            <a:r>
              <a:rPr lang="en-US" b="1" dirty="0"/>
              <a:t> </a:t>
            </a:r>
          </a:p>
          <a:p>
            <a:r>
              <a:rPr lang="en-US" b="1" dirty="0"/>
              <a:t>A ⇢ x</a:t>
            </a:r>
            <a:r>
              <a:rPr lang="en-US" dirty="0"/>
              <a:t> </a:t>
            </a:r>
          </a:p>
          <a:p>
            <a:r>
              <a:rPr lang="en-US" b="1" dirty="0"/>
              <a:t>A ⇢ </a:t>
            </a:r>
            <a:r>
              <a:rPr lang="en-US" b="1" dirty="0" err="1"/>
              <a:t>Bx</a:t>
            </a:r>
            <a:r>
              <a:rPr lang="en-US" dirty="0"/>
              <a:t> </a:t>
            </a:r>
          </a:p>
          <a:p>
            <a:r>
              <a:rPr lang="en-US" dirty="0"/>
              <a:t>where A, B ∈ Variable(V) and x ∈ T* i.e. string of terminals.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Right linear and  left  linear  regular  grammars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fontAlgn="base"/>
            <a:r>
              <a:rPr lang="en-US" b="1" dirty="0"/>
              <a:t>Types of regular grammar :</a:t>
            </a:r>
            <a:endParaRPr lang="en-US" dirty="0"/>
          </a:p>
          <a:p>
            <a:pPr fontAlgn="base"/>
            <a:r>
              <a:rPr lang="en-US" dirty="0"/>
              <a:t>Left Linear grammar(LLG)</a:t>
            </a:r>
          </a:p>
          <a:p>
            <a:pPr fontAlgn="base"/>
            <a:r>
              <a:rPr lang="en-US" dirty="0"/>
              <a:t>Right linear grammar(RLG)</a:t>
            </a:r>
          </a:p>
          <a:p>
            <a:pPr fontAlgn="base"/>
            <a:r>
              <a:rPr lang="en-US" b="1" dirty="0"/>
              <a:t>1. Left linear grammar(LLG) –</a:t>
            </a:r>
            <a:br>
              <a:rPr lang="en-US" dirty="0"/>
            </a:br>
            <a:r>
              <a:rPr lang="en-US" dirty="0"/>
              <a:t>In LLG, the productions are in the form</a:t>
            </a:r>
          </a:p>
          <a:p>
            <a:r>
              <a:rPr lang="en-US" dirty="0"/>
              <a:t>A ⇢ </a:t>
            </a:r>
            <a:r>
              <a:rPr lang="en-US" dirty="0" err="1"/>
              <a:t>Bx</a:t>
            </a:r>
            <a:r>
              <a:rPr lang="en-US" dirty="0"/>
              <a:t> </a:t>
            </a:r>
          </a:p>
          <a:p>
            <a:r>
              <a:rPr lang="en-US" dirty="0"/>
              <a:t>A ⇢ x </a:t>
            </a:r>
          </a:p>
          <a:p>
            <a:r>
              <a:rPr lang="en-US" dirty="0"/>
              <a:t>where A,B ∈ V and x ∈ T*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fontAlgn="base"/>
            <a:r>
              <a:rPr lang="en-US" b="1" dirty="0"/>
              <a:t>2. Right linear grammar(RLG) –</a:t>
            </a:r>
            <a:br>
              <a:rPr lang="en-US" dirty="0"/>
            </a:br>
            <a:r>
              <a:rPr lang="en-US" dirty="0"/>
              <a:t>In RLG, the productions are in the form if all the productions are of the form</a:t>
            </a:r>
          </a:p>
          <a:p>
            <a:pPr fontAlgn="base"/>
            <a:r>
              <a:rPr lang="en-US" dirty="0"/>
              <a:t>A ⇢ </a:t>
            </a:r>
            <a:r>
              <a:rPr lang="en-US" dirty="0" err="1"/>
              <a:t>xB</a:t>
            </a:r>
            <a:endParaRPr lang="en-US" dirty="0"/>
          </a:p>
          <a:p>
            <a:pPr fontAlgn="base"/>
            <a:r>
              <a:rPr lang="en-US" dirty="0"/>
              <a:t>A ⇢ x </a:t>
            </a:r>
          </a:p>
          <a:p>
            <a:pPr fontAlgn="base"/>
            <a:r>
              <a:rPr lang="en-US" dirty="0"/>
              <a:t>where A,B ∈ V and x ∈ T*Language generated by type-3 grammar is a regular language, for which a FA can be designed. The FA can also be converted into type-3 grammar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 inter-conversion between  LLG  &amp;  RLG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Example – </a:t>
            </a:r>
            <a:r>
              <a:rPr lang="en-US" dirty="0"/>
              <a:t>FA for accepting strings which start with b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∑ = {</a:t>
            </a:r>
            <a:r>
              <a:rPr lang="en-US" dirty="0" err="1"/>
              <a:t>a,b</a:t>
            </a:r>
            <a:r>
              <a:rPr lang="en-US" dirty="0"/>
              <a:t>} Initial state(q</a:t>
            </a:r>
            <a:r>
              <a:rPr lang="en-US" baseline="-25000" dirty="0"/>
              <a:t>0</a:t>
            </a:r>
            <a:r>
              <a:rPr lang="en-US" dirty="0"/>
              <a:t>) = A Final state(F) = B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1026" name="Picture 2" descr="E:\ToC\Untitleddrawing6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33600" y="2514600"/>
            <a:ext cx="4724400" cy="16097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b="1" dirty="0"/>
              <a:t>The RLG corresponding to FA is </a:t>
            </a:r>
            <a:endParaRPr lang="en-US" dirty="0"/>
          </a:p>
          <a:p>
            <a:r>
              <a:rPr lang="en-US" b="1" dirty="0"/>
              <a:t>A ⇢ </a:t>
            </a:r>
            <a:r>
              <a:rPr lang="en-US" b="1" dirty="0" err="1"/>
              <a:t>bB</a:t>
            </a:r>
            <a:r>
              <a:rPr lang="en-US" b="1" dirty="0"/>
              <a:t> </a:t>
            </a:r>
          </a:p>
          <a:p>
            <a:r>
              <a:rPr lang="en-US" b="1" dirty="0"/>
              <a:t>B ⇢ ∈/</a:t>
            </a:r>
            <a:r>
              <a:rPr lang="en-US" b="1" dirty="0" err="1"/>
              <a:t>aB</a:t>
            </a:r>
            <a:r>
              <a:rPr lang="en-US" b="1" dirty="0"/>
              <a:t>/</a:t>
            </a:r>
            <a:r>
              <a:rPr lang="en-US" b="1" dirty="0" err="1"/>
              <a:t>bB</a:t>
            </a:r>
            <a:endParaRPr lang="en-US" b="1" dirty="0"/>
          </a:p>
          <a:p>
            <a:r>
              <a:rPr lang="en-US" dirty="0"/>
              <a:t>This above grammar is RLG, which can be written directly through FA.</a:t>
            </a:r>
            <a:r>
              <a:rPr lang="en-US" b="1" dirty="0"/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42" name="Picture 2" descr="E:\ToC\RLG1.pn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90600" y="1676400"/>
            <a:ext cx="6851579" cy="2934494"/>
          </a:xfrm>
          <a:prstGeom prst="rect">
            <a:avLst/>
          </a:prstGeom>
          <a:noFill/>
        </p:spPr>
      </p:pic>
      <p:sp>
        <p:nvSpPr>
          <p:cNvPr id="61443" name="Rectangle 3"/>
          <p:cNvSpPr>
            <a:spLocks noChangeArrowheads="1"/>
          </p:cNvSpPr>
          <p:nvPr/>
        </p:nvSpPr>
        <p:spPr bwMode="auto">
          <a:xfrm>
            <a:off x="533400" y="5105400"/>
            <a:ext cx="8229600" cy="643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8887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urw-din"/>
                <a:cs typeface="Arial" pitchFamily="34" charset="0"/>
              </a:rPr>
              <a:t>The above RLG can derive strings which start with b and after that any input symbol(i.e. ∑ ={a, b} can be accepted).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normalizeH="0" baseline="0" dirty="0">
              <a:ln>
                <a:noFill/>
              </a:ln>
              <a:solidFill>
                <a:srgbClr val="273239"/>
              </a:solidFill>
              <a:effectLst/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itchFamily="49" charset="0"/>
                <a:cs typeface="Consolas" pitchFamily="49" charset="0"/>
              </a:rPr>
              <a:t>The regular language corresponding to RLG is L= {b,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rgbClr val="273239"/>
                </a:solidFill>
                <a:effectLst/>
                <a:latin typeface="Consolas" pitchFamily="49" charset="0"/>
                <a:cs typeface="Consolas" pitchFamily="49" charset="0"/>
              </a:rPr>
              <a:t>ba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itchFamily="49" charset="0"/>
                <a:cs typeface="Consolas" pitchFamily="49" charset="0"/>
              </a:rPr>
              <a:t>, bb, baa, 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rgbClr val="273239"/>
                </a:solidFill>
                <a:effectLst/>
                <a:latin typeface="Consolas" pitchFamily="49" charset="0"/>
                <a:cs typeface="Consolas" pitchFamily="49" charset="0"/>
              </a:rPr>
              <a:t>bab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itchFamily="49" charset="0"/>
                <a:cs typeface="Consolas" pitchFamily="49" charset="0"/>
              </a:rPr>
              <a:t> ,</a:t>
            </a:r>
            <a:r>
              <a:rPr kumimoji="0" lang="en-US" sz="1200" b="0" i="0" u="none" strike="noStrike" cap="none" normalizeH="0" baseline="0" dirty="0" err="1">
                <a:ln>
                  <a:noFill/>
                </a:ln>
                <a:solidFill>
                  <a:srgbClr val="273239"/>
                </a:solidFill>
                <a:effectLst/>
                <a:latin typeface="Consolas" pitchFamily="49" charset="0"/>
                <a:cs typeface="Consolas" pitchFamily="49" charset="0"/>
              </a:rPr>
              <a:t>bba,bbb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itchFamily="49" charset="0"/>
                <a:cs typeface="Consolas" pitchFamily="49" charset="0"/>
              </a:rPr>
              <a:t> ..... }</a:t>
            </a:r>
            <a:r>
              <a:rPr kumimoji="0" 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If we reverse the above production of the above RLG, then we get</a:t>
            </a:r>
          </a:p>
          <a:p>
            <a:r>
              <a:rPr lang="en-US" dirty="0"/>
              <a:t>A </a:t>
            </a:r>
            <a:r>
              <a:rPr lang="en-US" b="1" dirty="0"/>
              <a:t>⇢</a:t>
            </a:r>
            <a:r>
              <a:rPr lang="en-US" dirty="0"/>
              <a:t> Bb </a:t>
            </a:r>
          </a:p>
          <a:p>
            <a:r>
              <a:rPr lang="en-US" dirty="0"/>
              <a:t>B </a:t>
            </a:r>
            <a:r>
              <a:rPr lang="en-US" b="1" dirty="0"/>
              <a:t>⇢</a:t>
            </a:r>
            <a:r>
              <a:rPr lang="en-US" dirty="0"/>
              <a:t> ∈/</a:t>
            </a:r>
            <a:r>
              <a:rPr lang="en-US" dirty="0" err="1"/>
              <a:t>Ba</a:t>
            </a:r>
            <a:r>
              <a:rPr lang="en-US" dirty="0"/>
              <a:t>/Bb  </a:t>
            </a:r>
          </a:p>
          <a:p>
            <a:r>
              <a:rPr lang="en-US" dirty="0"/>
              <a:t>It derives the language that contains all the strings which end with b. i.e. L' = {b, bb, </a:t>
            </a:r>
            <a:r>
              <a:rPr lang="en-US" dirty="0" err="1"/>
              <a:t>ab</a:t>
            </a:r>
            <a:r>
              <a:rPr lang="en-US" dirty="0"/>
              <a:t>, </a:t>
            </a:r>
            <a:r>
              <a:rPr lang="en-US" dirty="0" err="1"/>
              <a:t>aab</a:t>
            </a:r>
            <a:r>
              <a:rPr lang="en-US" dirty="0"/>
              <a:t>, </a:t>
            </a:r>
            <a:r>
              <a:rPr lang="en-US" dirty="0" err="1"/>
              <a:t>bab</a:t>
            </a:r>
            <a:r>
              <a:rPr lang="en-US" dirty="0"/>
              <a:t>, </a:t>
            </a:r>
            <a:r>
              <a:rPr lang="en-US" dirty="0" err="1"/>
              <a:t>abb</a:t>
            </a:r>
            <a:r>
              <a:rPr lang="en-US" dirty="0"/>
              <a:t>, </a:t>
            </a:r>
            <a:r>
              <a:rPr lang="en-US" dirty="0" err="1"/>
              <a:t>bbb</a:t>
            </a:r>
            <a:r>
              <a:rPr lang="en-US" dirty="0"/>
              <a:t> .....}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 we can conclude that if we have FA that represents language L and if we convert it, into RLG, which again represents </a:t>
            </a:r>
            <a:br>
              <a:rPr lang="en-US" dirty="0"/>
            </a:br>
            <a:r>
              <a:rPr lang="en-US" dirty="0"/>
              <a:t>language L, but after reversing RLG we get LLG which represents language L‘</a:t>
            </a:r>
          </a:p>
          <a:p>
            <a:r>
              <a:rPr lang="en-US" dirty="0"/>
              <a:t>(i.e. reverse of L). 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fontAlgn="base"/>
            <a:r>
              <a:rPr lang="en-US" b="1" dirty="0"/>
              <a:t>For converting the RLG into LLG for language L, the following procedure needs to be followed : </a:t>
            </a:r>
            <a:endParaRPr lang="en-US" dirty="0"/>
          </a:p>
          <a:p>
            <a:r>
              <a:rPr lang="en-US" dirty="0"/>
              <a:t>Step 1: Reverse the FA for language L </a:t>
            </a:r>
          </a:p>
          <a:p>
            <a:r>
              <a:rPr lang="en-US" dirty="0"/>
              <a:t>Step 2: Write the RLG for it. </a:t>
            </a:r>
          </a:p>
          <a:p>
            <a:r>
              <a:rPr lang="en-US" dirty="0"/>
              <a:t>Step 3: Reverse the right linear grammar. after this we get the grammar that generates the language that represents the LLG for the same language L.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3490" name="Picture 2" descr="E:\ToC\RLG2.pn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95400" y="2286000"/>
            <a:ext cx="6927218" cy="189626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Here L is language for FA and L</a:t>
            </a:r>
            <a:r>
              <a:rPr lang="en-US" baseline="30000" dirty="0"/>
              <a:t>R</a:t>
            </a:r>
            <a:r>
              <a:rPr lang="en-US" dirty="0"/>
              <a:t> is a reversal of language L.</a:t>
            </a:r>
            <a:br>
              <a:rPr lang="en-US" dirty="0"/>
            </a:br>
            <a:r>
              <a:rPr lang="en-US" b="1" dirty="0"/>
              <a:t>Example –</a:t>
            </a:r>
            <a:r>
              <a:rPr lang="en-US" dirty="0"/>
              <a:t> </a:t>
            </a:r>
            <a:br>
              <a:rPr lang="en-US" dirty="0"/>
            </a:br>
            <a:r>
              <a:rPr lang="en-US" dirty="0"/>
              <a:t>The above FA represents language L(i.e. set of all strings over input symbols a and b which start with  b).</a:t>
            </a:r>
            <a:br>
              <a:rPr lang="en-US" dirty="0"/>
            </a:br>
            <a:r>
              <a:rPr lang="en-US" dirty="0"/>
              <a:t>We are converting it into LLG.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Step1  – </a:t>
            </a:r>
            <a:br>
              <a:rPr lang="en-US" dirty="0"/>
            </a:br>
            <a:r>
              <a:rPr lang="en-US" dirty="0"/>
              <a:t>The reversal of FA is</a:t>
            </a:r>
          </a:p>
          <a:p>
            <a:pPr fontAlgn="base"/>
            <a:endParaRPr lang="en-US" b="1" dirty="0"/>
          </a:p>
          <a:p>
            <a:pPr fontAlgn="base"/>
            <a:endParaRPr lang="en-US" b="1" dirty="0"/>
          </a:p>
          <a:p>
            <a:pPr fontAlgn="base"/>
            <a:r>
              <a:rPr lang="en-US" b="1" dirty="0"/>
              <a:t>Step 2  – </a:t>
            </a:r>
            <a:br>
              <a:rPr lang="en-US" dirty="0"/>
            </a:br>
            <a:r>
              <a:rPr lang="en-US" dirty="0"/>
              <a:t>The corresponding RLG for this reversed FA is</a:t>
            </a:r>
          </a:p>
          <a:p>
            <a:r>
              <a:rPr lang="en-US" dirty="0"/>
              <a:t>B ⇢ </a:t>
            </a:r>
            <a:r>
              <a:rPr lang="en-US" dirty="0" err="1"/>
              <a:t>aB</a:t>
            </a:r>
            <a:r>
              <a:rPr lang="en-US" dirty="0"/>
              <a:t>/</a:t>
            </a:r>
            <a:r>
              <a:rPr lang="en-US" dirty="0" err="1"/>
              <a:t>bB</a:t>
            </a:r>
            <a:r>
              <a:rPr lang="en-US" dirty="0"/>
              <a:t>/</a:t>
            </a:r>
            <a:r>
              <a:rPr lang="en-US" dirty="0" err="1"/>
              <a:t>bA</a:t>
            </a:r>
            <a:r>
              <a:rPr lang="en-US" dirty="0"/>
              <a:t> </a:t>
            </a:r>
          </a:p>
          <a:p>
            <a:r>
              <a:rPr lang="en-US" dirty="0"/>
              <a:t>A ⇢ ∈</a:t>
            </a:r>
          </a:p>
          <a:p>
            <a:endParaRPr lang="en-US" dirty="0"/>
          </a:p>
        </p:txBody>
      </p:sp>
      <p:pic>
        <p:nvPicPr>
          <p:cNvPr id="64514" name="Picture 2" descr="E:\ToC\RLG3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24200" y="2743200"/>
            <a:ext cx="3533775" cy="123223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b="1" dirty="0"/>
              <a:t>Step 3 –</a:t>
            </a:r>
            <a:br>
              <a:rPr lang="en-US" dirty="0"/>
            </a:br>
            <a:r>
              <a:rPr lang="en-US" dirty="0"/>
              <a:t>The reversing the above RLG we get</a:t>
            </a:r>
          </a:p>
          <a:p>
            <a:pPr fontAlgn="base"/>
            <a:r>
              <a:rPr lang="en-US" dirty="0"/>
              <a:t>B ⇢ </a:t>
            </a:r>
            <a:r>
              <a:rPr lang="en-US" dirty="0" err="1"/>
              <a:t>Ba</a:t>
            </a:r>
            <a:r>
              <a:rPr lang="en-US" dirty="0"/>
              <a:t>/Bb/</a:t>
            </a:r>
            <a:r>
              <a:rPr lang="en-US" dirty="0" err="1"/>
              <a:t>Ab</a:t>
            </a:r>
            <a:r>
              <a:rPr lang="en-US" dirty="0"/>
              <a:t> </a:t>
            </a:r>
          </a:p>
          <a:p>
            <a:pPr fontAlgn="base"/>
            <a:r>
              <a:rPr lang="en-US" dirty="0"/>
              <a:t>A ⇢ ∈</a:t>
            </a:r>
          </a:p>
          <a:p>
            <a:pPr fontAlgn="base"/>
            <a:r>
              <a:rPr lang="en-US" dirty="0"/>
              <a:t>So this is LLG for language L( which represents all strings that start with b).</a:t>
            </a:r>
            <a:br>
              <a:rPr lang="en-US" dirty="0"/>
            </a:br>
            <a:r>
              <a:rPr lang="en-US" dirty="0"/>
              <a:t>L= {b, </a:t>
            </a:r>
            <a:r>
              <a:rPr lang="en-US" dirty="0" err="1"/>
              <a:t>ba</a:t>
            </a:r>
            <a:r>
              <a:rPr lang="en-US" dirty="0"/>
              <a:t>, bb, baa, </a:t>
            </a:r>
            <a:r>
              <a:rPr lang="en-US" dirty="0" err="1"/>
              <a:t>bab</a:t>
            </a:r>
            <a:r>
              <a:rPr lang="en-US" dirty="0"/>
              <a:t> ,</a:t>
            </a:r>
            <a:r>
              <a:rPr lang="en-US" dirty="0" err="1"/>
              <a:t>bba</a:t>
            </a:r>
            <a:r>
              <a:rPr lang="en-US" dirty="0"/>
              <a:t>, </a:t>
            </a:r>
            <a:r>
              <a:rPr lang="en-US" dirty="0" err="1"/>
              <a:t>bbb</a:t>
            </a:r>
            <a:r>
              <a:rPr lang="en-US" dirty="0"/>
              <a:t> ….. }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Equivalence  </a:t>
            </a:r>
            <a:br>
              <a:rPr lang="en-US" dirty="0"/>
            </a:br>
            <a:r>
              <a:rPr lang="en-US" dirty="0"/>
              <a:t>between  regular grammar and F.A</a:t>
            </a:r>
            <a:br>
              <a:rPr lang="en-US" dirty="0"/>
            </a:br>
            <a:r>
              <a:rPr lang="en-US" dirty="0"/>
              <a:t>Inter-conversion between RE and RG.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8229600" cy="4525963"/>
          </a:xfrm>
        </p:spPr>
        <p:txBody>
          <a:bodyPr>
            <a:normAutofit lnSpcReduction="10000"/>
          </a:bodyPr>
          <a:lstStyle/>
          <a:p>
            <a:pPr fontAlgn="base"/>
            <a:r>
              <a:rPr lang="en-US" b="1" dirty="0"/>
              <a:t>Conversion of RLG to FA :</a:t>
            </a:r>
            <a:endParaRPr lang="en-US" dirty="0"/>
          </a:p>
          <a:p>
            <a:pPr fontAlgn="base"/>
            <a:r>
              <a:rPr lang="en-US" dirty="0"/>
              <a:t>Start from the first production.</a:t>
            </a:r>
          </a:p>
          <a:p>
            <a:pPr fontAlgn="base"/>
            <a:r>
              <a:rPr lang="en-US" dirty="0"/>
              <a:t>From every left alphabet (or variable) go to the symbol followed by it.</a:t>
            </a:r>
          </a:p>
          <a:p>
            <a:pPr fontAlgn="base"/>
            <a:r>
              <a:rPr lang="en-US" b="1" dirty="0"/>
              <a:t>Start state –</a:t>
            </a:r>
            <a:r>
              <a:rPr lang="en-US" dirty="0"/>
              <a:t> </a:t>
            </a:r>
            <a:br>
              <a:rPr lang="en-US" dirty="0"/>
            </a:br>
            <a:r>
              <a:rPr lang="en-US" dirty="0"/>
              <a:t>It will be the first production state.</a:t>
            </a:r>
          </a:p>
          <a:p>
            <a:pPr fontAlgn="base"/>
            <a:r>
              <a:rPr lang="en-US" b="1" dirty="0"/>
              <a:t>Final state –</a:t>
            </a:r>
            <a:r>
              <a:rPr lang="en-US" dirty="0"/>
              <a:t> </a:t>
            </a:r>
            <a:br>
              <a:rPr lang="en-US" dirty="0"/>
            </a:br>
            <a:r>
              <a:rPr lang="en-US" dirty="0"/>
              <a:t>Take those states which end up with terminals without further non-terminals.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b="1" dirty="0"/>
              <a:t>Example –</a:t>
            </a:r>
            <a:br>
              <a:rPr lang="en-US" dirty="0"/>
            </a:br>
            <a:r>
              <a:rPr lang="en-US" dirty="0"/>
              <a:t>The RLL grammar for Language(L), which  represents set of all strings which end with 0.</a:t>
            </a:r>
            <a:r>
              <a:rPr lang="en-US" b="1" dirty="0"/>
              <a:t> </a:t>
            </a:r>
            <a:endParaRPr lang="en-US" dirty="0"/>
          </a:p>
          <a:p>
            <a:r>
              <a:rPr lang="en-US" b="1" dirty="0"/>
              <a:t>A ⇢ 0A/1B/0B</a:t>
            </a:r>
            <a:r>
              <a:rPr lang="en-US" dirty="0"/>
              <a:t> </a:t>
            </a:r>
          </a:p>
          <a:p>
            <a:r>
              <a:rPr lang="en-US" b="1" dirty="0"/>
              <a:t>B ⇢ ∈</a:t>
            </a:r>
            <a:endParaRPr lang="en-US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fontAlgn="base"/>
            <a:r>
              <a:rPr lang="en-US" b="1" dirty="0"/>
              <a:t>So the FA for corresponding to RLG can be found out as</a:t>
            </a:r>
            <a:br>
              <a:rPr lang="en-US" dirty="0"/>
            </a:br>
            <a:r>
              <a:rPr lang="en-US" dirty="0"/>
              <a:t>Start with variable A and use its production.</a:t>
            </a:r>
          </a:p>
          <a:p>
            <a:pPr fontAlgn="base"/>
            <a:r>
              <a:rPr lang="en-US" dirty="0"/>
              <a:t>For production A ⇢ 0A ,this means after getting input symbol 0, the transition will remain in the same state.</a:t>
            </a:r>
          </a:p>
          <a:p>
            <a:pPr fontAlgn="base"/>
            <a:r>
              <a:rPr lang="en-US" dirty="0"/>
              <a:t>For production A ⇢ 1B ,this means after getting input symbol 1, the state transition will take place from State A to B.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For production A ⇢ 0B ,this means after getting input symbol 1, the state transition will take place from State A to B.</a:t>
            </a:r>
          </a:p>
          <a:p>
            <a:pPr fontAlgn="base"/>
            <a:r>
              <a:rPr lang="en-US" dirty="0"/>
              <a:t>For production B ⇢ ∈, this means there is no need for state transition. This means it would be the final state in the corresponding FA as RHS is terminal.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 the final NFA for the corresponding RLG is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5538" name="Picture 2" descr="E:\ToC\RLG4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81200" y="2971800"/>
            <a:ext cx="4694464" cy="1524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Conversion of LLG to FA :</a:t>
            </a:r>
            <a:endParaRPr lang="en-US" dirty="0"/>
          </a:p>
        </p:txBody>
      </p:sp>
      <p:pic>
        <p:nvPicPr>
          <p:cNvPr id="66562" name="Picture 2" descr="E:\ToC\RLG5.pn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143000" y="2209800"/>
            <a:ext cx="7199665" cy="2362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Explanation –</a:t>
            </a:r>
            <a:br>
              <a:rPr lang="en-US" dirty="0"/>
            </a:br>
            <a:r>
              <a:rPr lang="en-US" dirty="0"/>
              <a:t>First convert the LLG which represents the Language(L) to RLG, which represents, reversal of language L(i.e.L</a:t>
            </a:r>
            <a:r>
              <a:rPr lang="en-US" baseline="30000" dirty="0"/>
              <a:t>R</a:t>
            </a:r>
            <a:r>
              <a:rPr lang="en-US" dirty="0"/>
              <a:t>) then design FA corresponding to it(i.e. FA for Language L</a:t>
            </a:r>
            <a:r>
              <a:rPr lang="en-US" baseline="30000" dirty="0"/>
              <a:t>R</a:t>
            </a:r>
            <a:r>
              <a:rPr lang="en-US" dirty="0"/>
              <a:t> ). Then reverse the FA. Then the finally FA is FA for language L).  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b="1" dirty="0"/>
              <a:t>Conversion of LLG to RLG :</a:t>
            </a:r>
            <a:br>
              <a:rPr lang="en-US" dirty="0"/>
            </a:br>
            <a:r>
              <a:rPr lang="en-US" dirty="0"/>
              <a:t>For example, the above grammar is taken which represents language L(i.e. set of all strings that start with b)</a:t>
            </a:r>
            <a:br>
              <a:rPr lang="en-US" dirty="0"/>
            </a:br>
            <a:r>
              <a:rPr lang="en-US" dirty="0"/>
              <a:t>The LLG for this grammar is</a:t>
            </a:r>
          </a:p>
          <a:p>
            <a:r>
              <a:rPr lang="en-US" b="1" dirty="0"/>
              <a:t>B ⇢ </a:t>
            </a:r>
            <a:r>
              <a:rPr lang="en-US" b="1" dirty="0" err="1"/>
              <a:t>Ba</a:t>
            </a:r>
            <a:r>
              <a:rPr lang="en-US" b="1" dirty="0"/>
              <a:t>/Bb/</a:t>
            </a:r>
            <a:r>
              <a:rPr lang="en-US" b="1" dirty="0" err="1"/>
              <a:t>Ab</a:t>
            </a:r>
            <a:r>
              <a:rPr lang="en-US" dirty="0"/>
              <a:t> </a:t>
            </a:r>
          </a:p>
          <a:p>
            <a:r>
              <a:rPr lang="en-US" b="1" dirty="0"/>
              <a:t>A ⇢ ∈</a:t>
            </a:r>
            <a:endParaRPr lang="en-US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1 –</a:t>
            </a:r>
            <a:r>
              <a:rPr lang="en-US" dirty="0"/>
              <a:t>  </a:t>
            </a:r>
            <a:br>
              <a:rPr lang="en-US" dirty="0"/>
            </a:br>
            <a:r>
              <a:rPr lang="en-US" dirty="0"/>
              <a:t>Convert the LLG into FA(i.e. the conversion procedure is the same as above)</a:t>
            </a:r>
          </a:p>
          <a:p>
            <a:endParaRPr lang="en-US" dirty="0"/>
          </a:p>
        </p:txBody>
      </p:sp>
      <p:pic>
        <p:nvPicPr>
          <p:cNvPr id="67586" name="Picture 2" descr="E:\ToC\RLG6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0" y="3733800"/>
            <a:ext cx="4479022" cy="14192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2 –</a:t>
            </a:r>
            <a:r>
              <a:rPr lang="en-US" dirty="0"/>
              <a:t> </a:t>
            </a:r>
            <a:br>
              <a:rPr lang="en-US" dirty="0"/>
            </a:br>
            <a:r>
              <a:rPr lang="en-US" dirty="0"/>
              <a:t>Reverse the FA(i.e. initial state is converted into final state and convert final state to initial state and  reverse all edges)</a:t>
            </a:r>
          </a:p>
          <a:p>
            <a:endParaRPr lang="en-US" dirty="0"/>
          </a:p>
        </p:txBody>
      </p:sp>
      <p:pic>
        <p:nvPicPr>
          <p:cNvPr id="68610" name="Picture 2" descr="E:\ToC\RLG7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09800" y="4191000"/>
            <a:ext cx="4423541" cy="14097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b="1" dirty="0"/>
              <a:t>Step 3 –</a:t>
            </a:r>
            <a:r>
              <a:rPr lang="en-US" dirty="0"/>
              <a:t> </a:t>
            </a:r>
            <a:br>
              <a:rPr lang="en-US" dirty="0"/>
            </a:br>
            <a:r>
              <a:rPr lang="en-US" dirty="0"/>
              <a:t>Write RLG corresponding to reversed FA.</a:t>
            </a:r>
          </a:p>
          <a:p>
            <a:r>
              <a:rPr lang="en-US" dirty="0"/>
              <a:t>A ⇢ </a:t>
            </a:r>
            <a:r>
              <a:rPr lang="en-US" dirty="0" err="1"/>
              <a:t>bB</a:t>
            </a:r>
            <a:r>
              <a:rPr lang="en-US" dirty="0"/>
              <a:t> </a:t>
            </a:r>
          </a:p>
          <a:p>
            <a:r>
              <a:rPr lang="en-US" dirty="0"/>
              <a:t>B ⇢ </a:t>
            </a:r>
            <a:r>
              <a:rPr lang="en-US" dirty="0" err="1"/>
              <a:t>aB</a:t>
            </a:r>
            <a:r>
              <a:rPr lang="en-US" dirty="0"/>
              <a:t>/</a:t>
            </a:r>
            <a:r>
              <a:rPr lang="en-US" dirty="0" err="1"/>
              <a:t>bB</a:t>
            </a:r>
            <a:r>
              <a:rPr lang="en-US" dirty="0"/>
              <a:t>/∈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9635" name="Picture 3" descr="E:\ToC\RLG8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09800" y="4399190"/>
            <a:ext cx="3810000" cy="54428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0658" name="Picture 2" descr="E:\ToC\RLG9.pn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804488" y="2819400"/>
            <a:ext cx="5205912" cy="187721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797</TotalTime>
  <Words>3902</Words>
  <Application>Microsoft Office PowerPoint</Application>
  <PresentationFormat>On-screen Show (4:3)</PresentationFormat>
  <Paragraphs>265</Paragraphs>
  <Slides>68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3" baseType="lpstr">
      <vt:lpstr>Arial</vt:lpstr>
      <vt:lpstr>Calibri</vt:lpstr>
      <vt:lpstr>Consolas</vt:lpstr>
      <vt:lpstr>urw-din</vt:lpstr>
      <vt:lpstr>Office Theme</vt:lpstr>
      <vt:lpstr>ToC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Some basic algebraic properties of REs.</vt:lpstr>
      <vt:lpstr>PowerPoint Presentation</vt:lpstr>
      <vt:lpstr>Equivalence between RE and FA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Pumping Lemma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Closure properties of regular sets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Regular grammars</vt:lpstr>
      <vt:lpstr>PowerPoint Presentation</vt:lpstr>
      <vt:lpstr>Right linear and  left  linear  regular  grammars</vt:lpstr>
      <vt:lpstr>PowerPoint Presentation</vt:lpstr>
      <vt:lpstr> inter-conversion between  LLG  &amp;  RLG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Equivalence   between  regular grammar and F.A Inter-conversion between RE and RG. </vt:lpstr>
      <vt:lpstr>PowerPoint Presentation</vt:lpstr>
      <vt:lpstr>PowerPoint Presentation</vt:lpstr>
      <vt:lpstr>PowerPoint Presentation</vt:lpstr>
      <vt:lpstr>PowerPoint Presentation</vt:lpstr>
      <vt:lpstr>Conversion of LLG to FA 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ToC</dc:title>
  <dc:creator>sheikh sir</dc:creator>
  <cp:lastModifiedBy>Bharati Karare</cp:lastModifiedBy>
  <cp:revision>138</cp:revision>
  <dcterms:created xsi:type="dcterms:W3CDTF">2006-08-16T00:00:00Z</dcterms:created>
  <dcterms:modified xsi:type="dcterms:W3CDTF">2022-03-28T08:28:35Z</dcterms:modified>
</cp:coreProperties>
</file>